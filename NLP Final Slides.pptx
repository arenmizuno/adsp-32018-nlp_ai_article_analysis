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Robo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CBC6A3-EEB5-4E53-B1B5-FC37A78BE2B4}">
  <a:tblStyle styleId="{AECBC6A3-EEB5-4E53-B1B5-FC37A78BE2B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bold.fntdata"/><Relationship Id="rId14" Type="http://schemas.openxmlformats.org/officeDocument/2006/relationships/slide" Target="slides/slide8.xml"/><Relationship Id="rId36" Type="http://schemas.openxmlformats.org/officeDocument/2006/relationships/font" Target="fonts/Roboto-regular.fntdata"/><Relationship Id="rId17" Type="http://schemas.openxmlformats.org/officeDocument/2006/relationships/slide" Target="slides/slide11.xml"/><Relationship Id="rId39" Type="http://schemas.openxmlformats.org/officeDocument/2006/relationships/font" Target="fonts/Roboto-boldItalic.fntdata"/><Relationship Id="rId16" Type="http://schemas.openxmlformats.org/officeDocument/2006/relationships/slide" Target="slides/slide10.xml"/><Relationship Id="rId38" Type="http://schemas.openxmlformats.org/officeDocument/2006/relationships/font" Target="fonts/Robo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c6f91993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c6f9199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cf75e55ea5_0_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cf75e55ea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ce06094a33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ce06094a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19934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1993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ce06094a33_0_7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ce06094a33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e06094a33_0_5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ce06094a33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e06094a33_0_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e06094a33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c6f919934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c6f91993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e70261833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ce7026183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e06094a33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e06094a3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e06094a33_0_4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e06094a33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e06094a33_0_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e06094a3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e06094a33_0_1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e06094a33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ce06094a33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ce06094a3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e06094a33_0_1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ce06094a33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e70261833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e70261833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e06094a33_0_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ce06094a3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e70261833_0_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e7026183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e70261833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ce70261833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ce06094a33_0_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ce06094a3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ce70261833_0_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ce7026183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e7026183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e7026183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e06094a33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ce06094a3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ce70261833_0_1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ce70261833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e70261833_0_15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ce70261833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ce70261833_0_16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ce70261833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ce70261833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ce70261833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cf75e55ea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cf75e55ea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cf75e55ea5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cf75e55ea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279750" y="1154400"/>
            <a:ext cx="8584500" cy="93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NLP Final – AI Article Analysis</a:t>
            </a:r>
            <a:endParaRPr/>
          </a:p>
        </p:txBody>
      </p:sp>
      <p:sp>
        <p:nvSpPr>
          <p:cNvPr id="68" name="Google Shape;68;p13"/>
          <p:cNvSpPr txBox="1"/>
          <p:nvPr>
            <p:ph idx="1" type="subTitle"/>
          </p:nvPr>
        </p:nvSpPr>
        <p:spPr>
          <a:xfrm>
            <a:off x="279750" y="2695250"/>
            <a:ext cx="3680100" cy="13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Aren Mizuno</a:t>
            </a:r>
            <a:endParaRPr/>
          </a:p>
          <a:p>
            <a:pPr indent="0" lvl="0" marL="0" rtl="0" algn="l">
              <a:spcBef>
                <a:spcPts val="0"/>
              </a:spcBef>
              <a:spcAft>
                <a:spcPts val="0"/>
              </a:spcAft>
              <a:buNone/>
            </a:pPr>
            <a:r>
              <a:rPr lang="en"/>
              <a:t>March 12, 2026</a:t>
            </a:r>
            <a:endParaRPr/>
          </a:p>
          <a:p>
            <a:pPr indent="0" lvl="0" marL="0" rtl="0" algn="l">
              <a:spcBef>
                <a:spcPts val="0"/>
              </a:spcBef>
              <a:spcAft>
                <a:spcPts val="0"/>
              </a:spcAft>
              <a:buNone/>
            </a:pPr>
            <a:r>
              <a:rPr lang="en"/>
              <a:t>ADSP 32018 – Ignas Grabauskas</a:t>
            </a:r>
            <a:endParaRPr/>
          </a:p>
        </p:txBody>
      </p:sp>
      <p:pic>
        <p:nvPicPr>
          <p:cNvPr id="69" name="Google Shape;69;p13" title="artificial-intelligence-ai-processor-chip-icon-symbol-for-graphic-design-logo-web-site-social-media-mobile-app-ui-illustration-free-vector.png"/>
          <p:cNvPicPr preferRelativeResize="0"/>
          <p:nvPr/>
        </p:nvPicPr>
        <p:blipFill>
          <a:blip r:embed="rId3">
            <a:alphaModFix/>
          </a:blip>
          <a:stretch>
            <a:fillRect/>
          </a:stretch>
        </p:blipFill>
        <p:spPr>
          <a:xfrm>
            <a:off x="5312588" y="2392793"/>
            <a:ext cx="1616669" cy="16166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75" name="Google Shape;75;p14"/>
          <p:cNvSpPr txBox="1"/>
          <p:nvPr/>
        </p:nvSpPr>
        <p:spPr>
          <a:xfrm>
            <a:off x="828125" y="2047575"/>
            <a:ext cx="7126800" cy="2185500"/>
          </a:xfrm>
          <a:prstGeom prst="rect">
            <a:avLst/>
          </a:prstGeom>
          <a:noFill/>
          <a:ln>
            <a:noFill/>
          </a:ln>
        </p:spPr>
        <p:txBody>
          <a:bodyPr anchorCtr="0" anchor="t" bIns="91425" lIns="91425" spcFirstLastPara="1" rIns="91425" wrap="square" tIns="91425">
            <a:noAutofit/>
          </a:bodyPr>
          <a:lstStyle/>
          <a:p>
            <a:pPr indent="-381000" lvl="0" marL="457200" rtl="0" algn="l">
              <a:lnSpc>
                <a:spcPct val="150000"/>
              </a:lnSpc>
              <a:spcBef>
                <a:spcPts val="0"/>
              </a:spcBef>
              <a:spcAft>
                <a:spcPts val="0"/>
              </a:spcAft>
              <a:buClr>
                <a:schemeClr val="lt2"/>
              </a:buClr>
              <a:buSzPts val="2400"/>
              <a:buFont typeface="Roboto"/>
              <a:buAutoNum type="arabicPeriod"/>
            </a:pPr>
            <a:r>
              <a:rPr lang="en" sz="2400">
                <a:solidFill>
                  <a:schemeClr val="lt2"/>
                </a:solidFill>
                <a:latin typeface="Roboto"/>
                <a:ea typeface="Roboto"/>
                <a:cs typeface="Roboto"/>
                <a:sym typeface="Roboto"/>
              </a:rPr>
              <a:t>Data EDA and Preprocessing</a:t>
            </a:r>
            <a:endParaRPr sz="2400">
              <a:solidFill>
                <a:schemeClr val="lt2"/>
              </a:solidFill>
              <a:latin typeface="Roboto"/>
              <a:ea typeface="Roboto"/>
              <a:cs typeface="Roboto"/>
              <a:sym typeface="Roboto"/>
            </a:endParaRPr>
          </a:p>
          <a:p>
            <a:pPr indent="-381000" lvl="0" marL="457200" rtl="0" algn="l">
              <a:lnSpc>
                <a:spcPct val="150000"/>
              </a:lnSpc>
              <a:spcBef>
                <a:spcPts val="0"/>
              </a:spcBef>
              <a:spcAft>
                <a:spcPts val="0"/>
              </a:spcAft>
              <a:buClr>
                <a:schemeClr val="lt2"/>
              </a:buClr>
              <a:buSzPts val="2400"/>
              <a:buFont typeface="Roboto"/>
              <a:buAutoNum type="arabicPeriod"/>
            </a:pPr>
            <a:r>
              <a:rPr lang="en" sz="2400">
                <a:solidFill>
                  <a:schemeClr val="lt2"/>
                </a:solidFill>
                <a:latin typeface="Roboto"/>
                <a:ea typeface="Roboto"/>
                <a:cs typeface="Roboto"/>
                <a:sym typeface="Roboto"/>
              </a:rPr>
              <a:t>Topic Detection</a:t>
            </a:r>
            <a:endParaRPr sz="2400">
              <a:solidFill>
                <a:schemeClr val="lt2"/>
              </a:solidFill>
              <a:latin typeface="Roboto"/>
              <a:ea typeface="Roboto"/>
              <a:cs typeface="Roboto"/>
              <a:sym typeface="Roboto"/>
            </a:endParaRPr>
          </a:p>
          <a:p>
            <a:pPr indent="-381000" lvl="0" marL="457200" rtl="0" algn="l">
              <a:lnSpc>
                <a:spcPct val="150000"/>
              </a:lnSpc>
              <a:spcBef>
                <a:spcPts val="0"/>
              </a:spcBef>
              <a:spcAft>
                <a:spcPts val="0"/>
              </a:spcAft>
              <a:buClr>
                <a:schemeClr val="lt2"/>
              </a:buClr>
              <a:buSzPts val="2400"/>
              <a:buFont typeface="Roboto"/>
              <a:buAutoNum type="arabicPeriod"/>
            </a:pPr>
            <a:r>
              <a:rPr lang="en" sz="2400">
                <a:solidFill>
                  <a:schemeClr val="lt2"/>
                </a:solidFill>
                <a:latin typeface="Roboto"/>
                <a:ea typeface="Roboto"/>
                <a:cs typeface="Roboto"/>
                <a:sym typeface="Roboto"/>
              </a:rPr>
              <a:t>Named Entity Recognition (NER)</a:t>
            </a:r>
            <a:endParaRPr sz="2400">
              <a:solidFill>
                <a:schemeClr val="lt2"/>
              </a:solidFill>
              <a:latin typeface="Roboto"/>
              <a:ea typeface="Roboto"/>
              <a:cs typeface="Roboto"/>
              <a:sym typeface="Roboto"/>
            </a:endParaRPr>
          </a:p>
          <a:p>
            <a:pPr indent="-381000" lvl="0" marL="457200" rtl="0" algn="l">
              <a:lnSpc>
                <a:spcPct val="150000"/>
              </a:lnSpc>
              <a:spcBef>
                <a:spcPts val="0"/>
              </a:spcBef>
              <a:spcAft>
                <a:spcPts val="0"/>
              </a:spcAft>
              <a:buClr>
                <a:schemeClr val="lt2"/>
              </a:buClr>
              <a:buSzPts val="2400"/>
              <a:buFont typeface="Roboto"/>
              <a:buAutoNum type="arabicPeriod"/>
            </a:pPr>
            <a:r>
              <a:rPr lang="en" sz="2400">
                <a:solidFill>
                  <a:schemeClr val="lt2"/>
                </a:solidFill>
                <a:latin typeface="Roboto"/>
                <a:ea typeface="Roboto"/>
                <a:cs typeface="Roboto"/>
                <a:sym typeface="Roboto"/>
              </a:rPr>
              <a:t>Sentiment Analysis</a:t>
            </a:r>
            <a:endParaRPr sz="2400">
              <a:solidFill>
                <a:schemeClr val="lt2"/>
              </a:solidFill>
              <a:latin typeface="Roboto"/>
              <a:ea typeface="Roboto"/>
              <a:cs typeface="Roboto"/>
              <a:sym typeface="Roboto"/>
            </a:endParaRPr>
          </a:p>
          <a:p>
            <a:pPr indent="-381000" lvl="0" marL="457200" rtl="0" algn="l">
              <a:lnSpc>
                <a:spcPct val="150000"/>
              </a:lnSpc>
              <a:spcBef>
                <a:spcPts val="0"/>
              </a:spcBef>
              <a:spcAft>
                <a:spcPts val="0"/>
              </a:spcAft>
              <a:buClr>
                <a:schemeClr val="lt2"/>
              </a:buClr>
              <a:buSzPts val="2400"/>
              <a:buFont typeface="Roboto"/>
              <a:buAutoNum type="arabicPeriod"/>
            </a:pPr>
            <a:r>
              <a:rPr lang="en" sz="2400">
                <a:solidFill>
                  <a:schemeClr val="lt2"/>
                </a:solidFill>
                <a:latin typeface="Roboto"/>
                <a:ea typeface="Roboto"/>
                <a:cs typeface="Roboto"/>
                <a:sym typeface="Roboto"/>
              </a:rPr>
              <a:t>Results and Future Considerations</a:t>
            </a:r>
            <a:endParaRPr sz="2400">
              <a:solidFill>
                <a:schemeClr val="lt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 EDA and Preprocessing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 EDA and Preprocessing – </a:t>
            </a:r>
            <a:r>
              <a:rPr lang="en"/>
              <a:t>Initial</a:t>
            </a:r>
            <a:endParaRPr/>
          </a:p>
        </p:txBody>
      </p:sp>
      <p:pic>
        <p:nvPicPr>
          <p:cNvPr id="86" name="Google Shape;86;p16" title="Screenshot 2026-03-08 at 9.50.32 PM.png"/>
          <p:cNvPicPr preferRelativeResize="0"/>
          <p:nvPr/>
        </p:nvPicPr>
        <p:blipFill>
          <a:blip r:embed="rId3">
            <a:alphaModFix/>
          </a:blip>
          <a:stretch>
            <a:fillRect/>
          </a:stretch>
        </p:blipFill>
        <p:spPr>
          <a:xfrm>
            <a:off x="152400" y="913187"/>
            <a:ext cx="8839204" cy="992684"/>
          </a:xfrm>
          <a:prstGeom prst="rect">
            <a:avLst/>
          </a:prstGeom>
          <a:noFill/>
          <a:ln>
            <a:noFill/>
          </a:ln>
        </p:spPr>
      </p:pic>
      <p:sp>
        <p:nvSpPr>
          <p:cNvPr id="87" name="Google Shape;87;p16"/>
          <p:cNvSpPr txBox="1"/>
          <p:nvPr/>
        </p:nvSpPr>
        <p:spPr>
          <a:xfrm>
            <a:off x="791800" y="2159300"/>
            <a:ext cx="5077500" cy="29352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199989 articles</a:t>
            </a:r>
            <a:endParaRPr sz="1200">
              <a:solidFill>
                <a:srgbClr val="1F1F1F"/>
              </a:solidFill>
              <a:latin typeface="Roboto"/>
              <a:ea typeface="Roboto"/>
              <a:cs typeface="Roboto"/>
              <a:sym typeface="Roboto"/>
            </a:endParaRPr>
          </a:p>
          <a:p>
            <a:pPr indent="-304800" lvl="0" marL="45720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No NaNs</a:t>
            </a:r>
            <a:endParaRPr sz="1200">
              <a:solidFill>
                <a:srgbClr val="1F1F1F"/>
              </a:solidFill>
              <a:latin typeface="Roboto"/>
              <a:ea typeface="Roboto"/>
              <a:cs typeface="Roboto"/>
              <a:sym typeface="Roboto"/>
            </a:endParaRPr>
          </a:p>
          <a:p>
            <a:pPr indent="-304800" lvl="0" marL="45720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All language = ‘en’ </a:t>
            </a:r>
            <a:endParaRPr sz="1200">
              <a:solidFill>
                <a:srgbClr val="1F1F1F"/>
              </a:solidFill>
              <a:latin typeface="Roboto"/>
              <a:ea typeface="Roboto"/>
              <a:cs typeface="Roboto"/>
              <a:sym typeface="Roboto"/>
            </a:endParaRPr>
          </a:p>
          <a:p>
            <a:pPr indent="-304800" lvl="0" marL="45720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5 columns (all object dtypes)</a:t>
            </a:r>
            <a:endParaRPr sz="1200">
              <a:solidFill>
                <a:srgbClr val="1F1F1F"/>
              </a:solidFill>
              <a:latin typeface="Roboto"/>
              <a:ea typeface="Roboto"/>
              <a:cs typeface="Roboto"/>
              <a:sym typeface="Roboto"/>
            </a:endParaRPr>
          </a:p>
          <a:p>
            <a:pPr indent="-304800" lvl="0" marL="45720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Duplicates </a:t>
            </a:r>
            <a:endParaRPr sz="1200">
              <a:solidFill>
                <a:srgbClr val="1F1F1F"/>
              </a:solidFill>
              <a:latin typeface="Roboto"/>
              <a:ea typeface="Roboto"/>
              <a:cs typeface="Roboto"/>
              <a:sym typeface="Roboto"/>
            </a:endParaRPr>
          </a:p>
          <a:p>
            <a:pPr indent="-304800" lvl="1" marL="91440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0 url</a:t>
            </a:r>
            <a:endParaRPr sz="1200">
              <a:solidFill>
                <a:srgbClr val="1F1F1F"/>
              </a:solidFill>
              <a:latin typeface="Roboto"/>
              <a:ea typeface="Roboto"/>
              <a:cs typeface="Roboto"/>
              <a:sym typeface="Roboto"/>
            </a:endParaRPr>
          </a:p>
          <a:p>
            <a:pPr indent="-304800" lvl="1" marL="91440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494 text</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35190 title</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Drop all duplicates</a:t>
            </a:r>
            <a:endParaRPr sz="1200">
              <a:solidFill>
                <a:srgbClr val="1F1F1F"/>
              </a:solidFill>
              <a:latin typeface="Roboto"/>
              <a:ea typeface="Roboto"/>
              <a:cs typeface="Roboto"/>
              <a:sym typeface="Roboto"/>
            </a:endParaRPr>
          </a:p>
          <a:p>
            <a:pPr indent="-304800" lvl="0" marL="45720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Cleaned the title and text by removing links and extra whitespace</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Capitalization, punctuation, and stop words kept for later tasks (NER), since they help models identify named entities like companies and technologies</a:t>
            </a:r>
            <a:endParaRPr sz="1200">
              <a:solidFill>
                <a:srgbClr val="1F1F1F"/>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1F1F1F"/>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1F1F1F"/>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 EDA and Preprocessing – </a:t>
            </a:r>
            <a:r>
              <a:rPr lang="en"/>
              <a:t>Date/Time</a:t>
            </a:r>
            <a:endParaRPr/>
          </a:p>
        </p:txBody>
      </p:sp>
      <p:sp>
        <p:nvSpPr>
          <p:cNvPr id="93" name="Google Shape;93;p17"/>
          <p:cNvSpPr txBox="1"/>
          <p:nvPr/>
        </p:nvSpPr>
        <p:spPr>
          <a:xfrm>
            <a:off x="208575" y="1206375"/>
            <a:ext cx="2825400" cy="3580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200">
                <a:solidFill>
                  <a:srgbClr val="1F1F1F"/>
                </a:solidFill>
                <a:latin typeface="Roboto"/>
                <a:ea typeface="Roboto"/>
                <a:cs typeface="Roboto"/>
                <a:sym typeface="Roboto"/>
              </a:rPr>
              <a:t>Date range:</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Min: 2022-01-01 00:00:00</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Max: 2026-02-10 00:00:00</a:t>
            </a:r>
            <a:endParaRPr sz="1200">
              <a:solidFill>
                <a:srgbClr val="1F1F1F"/>
              </a:solidFill>
              <a:latin typeface="Roboto"/>
              <a:ea typeface="Roboto"/>
              <a:cs typeface="Roboto"/>
              <a:sym typeface="Roboto"/>
            </a:endParaRPr>
          </a:p>
          <a:p>
            <a:pPr indent="0" lvl="0" marL="0" marR="0" rtl="0" algn="l">
              <a:lnSpc>
                <a:spcPct val="115000"/>
              </a:lnSpc>
              <a:spcBef>
                <a:spcPts val="0"/>
              </a:spcBef>
              <a:spcAft>
                <a:spcPts val="0"/>
              </a:spcAft>
              <a:buNone/>
            </a:pPr>
            <a:r>
              <a:t/>
            </a:r>
            <a:endParaRPr sz="1200">
              <a:solidFill>
                <a:srgbClr val="1F1F1F"/>
              </a:solidFill>
              <a:latin typeface="Roboto"/>
              <a:ea typeface="Roboto"/>
              <a:cs typeface="Roboto"/>
              <a:sym typeface="Roboto"/>
            </a:endParaRPr>
          </a:p>
          <a:p>
            <a:pPr indent="0" lvl="0" marL="0" marR="0" rtl="0" algn="l">
              <a:lnSpc>
                <a:spcPct val="115000"/>
              </a:lnSpc>
              <a:spcBef>
                <a:spcPts val="0"/>
              </a:spcBef>
              <a:spcAft>
                <a:spcPts val="0"/>
              </a:spcAft>
              <a:buNone/>
            </a:pPr>
            <a:r>
              <a:rPr lang="en" sz="1200">
                <a:solidFill>
                  <a:srgbClr val="1F1F1F"/>
                </a:solidFill>
                <a:latin typeface="Roboto"/>
                <a:ea typeface="Roboto"/>
                <a:cs typeface="Roboto"/>
                <a:sym typeface="Roboto"/>
              </a:rPr>
              <a:t>Observations:</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Font typeface="Roboto"/>
              <a:buChar char="●"/>
            </a:pPr>
            <a:r>
              <a:rPr lang="en" sz="1200">
                <a:latin typeface="Roboto"/>
                <a:ea typeface="Roboto"/>
                <a:cs typeface="Roboto"/>
                <a:sym typeface="Roboto"/>
              </a:rPr>
              <a:t>In 2022, article volume is relatively low and stable (20 to 120 articles/day)</a:t>
            </a:r>
            <a:endParaRPr sz="1200">
              <a:latin typeface="Roboto"/>
              <a:ea typeface="Roboto"/>
              <a:cs typeface="Roboto"/>
              <a:sym typeface="Roboto"/>
            </a:endParaRPr>
          </a:p>
          <a:p>
            <a:pPr indent="-304800" lvl="0" marL="457200" marR="0" rtl="0" algn="l">
              <a:lnSpc>
                <a:spcPct val="115000"/>
              </a:lnSpc>
              <a:spcBef>
                <a:spcPts val="0"/>
              </a:spcBef>
              <a:spcAft>
                <a:spcPts val="0"/>
              </a:spcAft>
              <a:buSzPts val="1200"/>
              <a:buChar char="●"/>
            </a:pPr>
            <a:r>
              <a:rPr lang="en" sz="1200">
                <a:latin typeface="Roboto"/>
                <a:ea typeface="Roboto"/>
                <a:cs typeface="Roboto"/>
                <a:sym typeface="Roboto"/>
              </a:rPr>
              <a:t>In 2023, there is a clear upward shift (150 to 400 articles/day)</a:t>
            </a:r>
            <a:endParaRPr sz="1200">
              <a:latin typeface="Roboto"/>
              <a:ea typeface="Roboto"/>
              <a:cs typeface="Roboto"/>
              <a:sym typeface="Roboto"/>
            </a:endParaRPr>
          </a:p>
          <a:p>
            <a:pPr indent="-304800" lvl="0" marL="457200" marR="0" rtl="0" algn="l">
              <a:lnSpc>
                <a:spcPct val="115000"/>
              </a:lnSpc>
              <a:spcBef>
                <a:spcPts val="0"/>
              </a:spcBef>
              <a:spcAft>
                <a:spcPts val="0"/>
              </a:spcAft>
              <a:buSzPts val="1200"/>
              <a:buChar char="●"/>
            </a:pPr>
            <a:r>
              <a:rPr lang="en" sz="1200">
                <a:latin typeface="Roboto"/>
                <a:ea typeface="Roboto"/>
                <a:cs typeface="Roboto"/>
                <a:sym typeface="Roboto"/>
              </a:rPr>
              <a:t>In early 2024, where there are extreme spikes (~1,500 articles/day)</a:t>
            </a:r>
            <a:endParaRPr sz="1200">
              <a:latin typeface="Roboto"/>
              <a:ea typeface="Roboto"/>
              <a:cs typeface="Roboto"/>
              <a:sym typeface="Roboto"/>
            </a:endParaRPr>
          </a:p>
          <a:p>
            <a:pPr indent="-304800" lvl="0" marL="457200" marR="0" rtl="0" algn="l">
              <a:lnSpc>
                <a:spcPct val="115000"/>
              </a:lnSpc>
              <a:spcBef>
                <a:spcPts val="0"/>
              </a:spcBef>
              <a:spcAft>
                <a:spcPts val="0"/>
              </a:spcAft>
              <a:buSzPts val="1200"/>
              <a:buChar char="●"/>
            </a:pPr>
            <a:r>
              <a:rPr lang="en" sz="1200">
                <a:latin typeface="Roboto"/>
                <a:ea typeface="Roboto"/>
                <a:cs typeface="Roboto"/>
                <a:sym typeface="Roboto"/>
              </a:rPr>
              <a:t>Article counts return to more typical levels</a:t>
            </a:r>
            <a:endParaRPr sz="1200">
              <a:latin typeface="Roboto"/>
              <a:ea typeface="Roboto"/>
              <a:cs typeface="Roboto"/>
              <a:sym typeface="Roboto"/>
            </a:endParaRPr>
          </a:p>
          <a:p>
            <a:pPr indent="0" lvl="0" marL="0" marR="0" rtl="0" algn="l">
              <a:lnSpc>
                <a:spcPct val="115000"/>
              </a:lnSpc>
              <a:spcBef>
                <a:spcPts val="0"/>
              </a:spcBef>
              <a:spcAft>
                <a:spcPts val="0"/>
              </a:spcAft>
              <a:buNone/>
            </a:pPr>
            <a:r>
              <a:t/>
            </a:r>
            <a:endParaRPr sz="1200">
              <a:solidFill>
                <a:srgbClr val="1F1F1F"/>
              </a:solidFill>
              <a:latin typeface="Roboto"/>
              <a:ea typeface="Roboto"/>
              <a:cs typeface="Roboto"/>
              <a:sym typeface="Roboto"/>
            </a:endParaRPr>
          </a:p>
        </p:txBody>
      </p:sp>
      <p:pic>
        <p:nvPicPr>
          <p:cNvPr id="94" name="Google Shape;94;p17"/>
          <p:cNvPicPr preferRelativeResize="0"/>
          <p:nvPr/>
        </p:nvPicPr>
        <p:blipFill>
          <a:blip r:embed="rId3">
            <a:alphaModFix/>
          </a:blip>
          <a:stretch>
            <a:fillRect/>
          </a:stretch>
        </p:blipFill>
        <p:spPr>
          <a:xfrm>
            <a:off x="3156300" y="1594688"/>
            <a:ext cx="5987701" cy="2543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 EDA and Preprocessing – </a:t>
            </a:r>
            <a:r>
              <a:rPr lang="en"/>
              <a:t>Word Count</a:t>
            </a:r>
            <a:endParaRPr/>
          </a:p>
        </p:txBody>
      </p:sp>
      <p:pic>
        <p:nvPicPr>
          <p:cNvPr id="100" name="Google Shape;100;p18"/>
          <p:cNvPicPr preferRelativeResize="0"/>
          <p:nvPr/>
        </p:nvPicPr>
        <p:blipFill>
          <a:blip r:embed="rId3">
            <a:alphaModFix/>
          </a:blip>
          <a:stretch>
            <a:fillRect/>
          </a:stretch>
        </p:blipFill>
        <p:spPr>
          <a:xfrm>
            <a:off x="0" y="2908795"/>
            <a:ext cx="3498300" cy="2204580"/>
          </a:xfrm>
          <a:prstGeom prst="rect">
            <a:avLst/>
          </a:prstGeom>
          <a:noFill/>
          <a:ln>
            <a:noFill/>
          </a:ln>
        </p:spPr>
      </p:pic>
      <p:pic>
        <p:nvPicPr>
          <p:cNvPr id="101" name="Google Shape;101;p18"/>
          <p:cNvPicPr preferRelativeResize="0"/>
          <p:nvPr/>
        </p:nvPicPr>
        <p:blipFill>
          <a:blip r:embed="rId4">
            <a:alphaModFix/>
          </a:blip>
          <a:stretch>
            <a:fillRect/>
          </a:stretch>
        </p:blipFill>
        <p:spPr>
          <a:xfrm>
            <a:off x="0" y="672948"/>
            <a:ext cx="3498300" cy="2181950"/>
          </a:xfrm>
          <a:prstGeom prst="rect">
            <a:avLst/>
          </a:prstGeom>
          <a:noFill/>
          <a:ln>
            <a:noFill/>
          </a:ln>
        </p:spPr>
      </p:pic>
      <p:pic>
        <p:nvPicPr>
          <p:cNvPr id="102" name="Google Shape;102;p18"/>
          <p:cNvPicPr preferRelativeResize="0"/>
          <p:nvPr/>
        </p:nvPicPr>
        <p:blipFill>
          <a:blip r:embed="rId5">
            <a:alphaModFix/>
          </a:blip>
          <a:stretch>
            <a:fillRect/>
          </a:stretch>
        </p:blipFill>
        <p:spPr>
          <a:xfrm>
            <a:off x="3498300" y="672950"/>
            <a:ext cx="3586997" cy="2181949"/>
          </a:xfrm>
          <a:prstGeom prst="rect">
            <a:avLst/>
          </a:prstGeom>
          <a:noFill/>
          <a:ln>
            <a:noFill/>
          </a:ln>
        </p:spPr>
      </p:pic>
      <p:pic>
        <p:nvPicPr>
          <p:cNvPr id="103" name="Google Shape;103;p18" title="Screenshot 2026-03-08 at 10.10.57 PM.png"/>
          <p:cNvPicPr preferRelativeResize="0"/>
          <p:nvPr/>
        </p:nvPicPr>
        <p:blipFill>
          <a:blip r:embed="rId6">
            <a:alphaModFix/>
          </a:blip>
          <a:stretch>
            <a:fillRect/>
          </a:stretch>
        </p:blipFill>
        <p:spPr>
          <a:xfrm>
            <a:off x="3569450" y="2908800"/>
            <a:ext cx="2693627" cy="2204576"/>
          </a:xfrm>
          <a:prstGeom prst="rect">
            <a:avLst/>
          </a:prstGeom>
          <a:noFill/>
          <a:ln>
            <a:noFill/>
          </a:ln>
        </p:spPr>
      </p:pic>
      <p:sp>
        <p:nvSpPr>
          <p:cNvPr id="104" name="Google Shape;104;p18"/>
          <p:cNvSpPr txBox="1"/>
          <p:nvPr/>
        </p:nvSpPr>
        <p:spPr>
          <a:xfrm>
            <a:off x="6485850" y="3106350"/>
            <a:ext cx="2298900" cy="19281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n" sz="1200">
                <a:latin typeface="Roboto"/>
                <a:ea typeface="Roboto"/>
                <a:cs typeface="Roboto"/>
                <a:sym typeface="Roboto"/>
              </a:rPr>
              <a:t>Used IQR method to drop 11815 article outliers</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Text bounds: 0 to 2975.0</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Title bounds: 3.5 to 23.5</a:t>
            </a:r>
            <a:endParaRPr sz="1200">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 EDA and Preprocessing – </a:t>
            </a:r>
            <a:r>
              <a:rPr lang="en"/>
              <a:t>Keep Articles with Frequent Words</a:t>
            </a:r>
            <a:endParaRPr/>
          </a:p>
        </p:txBody>
      </p:sp>
      <p:sp>
        <p:nvSpPr>
          <p:cNvPr id="110" name="Google Shape;110;p19"/>
          <p:cNvSpPr txBox="1"/>
          <p:nvPr/>
        </p:nvSpPr>
        <p:spPr>
          <a:xfrm>
            <a:off x="440525" y="1607700"/>
            <a:ext cx="4386300" cy="33219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SzPts val="1200"/>
              <a:buChar char="●"/>
            </a:pPr>
            <a:r>
              <a:rPr lang="en" sz="1200">
                <a:latin typeface="Roboto"/>
                <a:ea typeface="Roboto"/>
                <a:cs typeface="Roboto"/>
                <a:sym typeface="Roboto"/>
              </a:rPr>
              <a:t>Built a bag-of-words representation of the article text using CountVectorizer</a:t>
            </a:r>
            <a:endParaRPr sz="1200">
              <a:latin typeface="Roboto"/>
              <a:ea typeface="Roboto"/>
              <a:cs typeface="Roboto"/>
              <a:sym typeface="Roboto"/>
            </a:endParaRPr>
          </a:p>
          <a:p>
            <a:pPr indent="-304800" lvl="0" marL="457200" marR="0" rtl="0" algn="l">
              <a:lnSpc>
                <a:spcPct val="115000"/>
              </a:lnSpc>
              <a:spcBef>
                <a:spcPts val="0"/>
              </a:spcBef>
              <a:spcAft>
                <a:spcPts val="0"/>
              </a:spcAft>
              <a:buSzPts val="1200"/>
              <a:buChar char="●"/>
            </a:pPr>
            <a:r>
              <a:rPr lang="en" sz="1200">
                <a:latin typeface="Roboto"/>
                <a:ea typeface="Roboto"/>
                <a:cs typeface="Roboto"/>
                <a:sym typeface="Roboto"/>
              </a:rPr>
              <a:t>Kept alphabetic terms, converted all text to lowercase, and removed English stop words</a:t>
            </a:r>
            <a:endParaRPr sz="1200">
              <a:latin typeface="Roboto"/>
              <a:ea typeface="Roboto"/>
              <a:cs typeface="Roboto"/>
              <a:sym typeface="Roboto"/>
            </a:endParaRPr>
          </a:p>
          <a:p>
            <a:pPr indent="-304800" lvl="0" marL="457200" marR="0" rtl="0" algn="l">
              <a:lnSpc>
                <a:spcPct val="115000"/>
              </a:lnSpc>
              <a:spcBef>
                <a:spcPts val="0"/>
              </a:spcBef>
              <a:spcAft>
                <a:spcPts val="0"/>
              </a:spcAft>
              <a:buSzPts val="1200"/>
              <a:buChar char="●"/>
            </a:pPr>
            <a:r>
              <a:rPr lang="en" sz="1200">
                <a:latin typeface="Roboto"/>
                <a:ea typeface="Roboto"/>
                <a:cs typeface="Roboto"/>
                <a:sym typeface="Roboto"/>
              </a:rPr>
              <a:t>Kept only the articles containing at least one of these extremely common words (words that appear 100,000 times) </a:t>
            </a:r>
            <a:endParaRPr sz="1200">
              <a:latin typeface="Roboto"/>
              <a:ea typeface="Roboto"/>
              <a:cs typeface="Roboto"/>
              <a:sym typeface="Roboto"/>
            </a:endParaRPr>
          </a:p>
          <a:p>
            <a:pPr indent="-304800" lvl="1" marL="914400" marR="0" rtl="0" algn="l">
              <a:lnSpc>
                <a:spcPct val="115000"/>
              </a:lnSpc>
              <a:spcBef>
                <a:spcPts val="0"/>
              </a:spcBef>
              <a:spcAft>
                <a:spcPts val="0"/>
              </a:spcAft>
              <a:buSzPts val="1200"/>
              <a:buChar char="○"/>
            </a:pPr>
            <a:r>
              <a:rPr lang="en" sz="1200">
                <a:latin typeface="Roboto"/>
                <a:ea typeface="Roboto"/>
                <a:cs typeface="Roboto"/>
                <a:sym typeface="Roboto"/>
              </a:rPr>
              <a:t>This removes articles that were likely too short, too noisy, not relevant</a:t>
            </a:r>
            <a:endParaRPr sz="1200">
              <a:latin typeface="Roboto"/>
              <a:ea typeface="Roboto"/>
              <a:cs typeface="Roboto"/>
              <a:sym typeface="Roboto"/>
            </a:endParaRPr>
          </a:p>
          <a:p>
            <a:pPr indent="-304800" lvl="1" marL="914400" marR="0" rtl="0" algn="l">
              <a:lnSpc>
                <a:spcPct val="115000"/>
              </a:lnSpc>
              <a:spcBef>
                <a:spcPts val="0"/>
              </a:spcBef>
              <a:spcAft>
                <a:spcPts val="0"/>
              </a:spcAft>
              <a:buSzPts val="1200"/>
              <a:buChar char="○"/>
            </a:pPr>
            <a:r>
              <a:rPr lang="en" sz="1200">
                <a:latin typeface="Roboto"/>
                <a:ea typeface="Roboto"/>
                <a:cs typeface="Roboto"/>
                <a:sym typeface="Roboto"/>
              </a:rPr>
              <a:t>152,490 → 136,233 articles (dropped 16257)</a:t>
            </a:r>
            <a:endParaRPr sz="1100">
              <a:latin typeface="Roboto"/>
              <a:ea typeface="Roboto"/>
              <a:cs typeface="Roboto"/>
              <a:sym typeface="Roboto"/>
            </a:endParaRPr>
          </a:p>
        </p:txBody>
      </p:sp>
      <p:pic>
        <p:nvPicPr>
          <p:cNvPr id="111" name="Google Shape;111;p19" title="Screenshot 2026-03-08 at 10.35.47 PM.png"/>
          <p:cNvPicPr preferRelativeResize="0"/>
          <p:nvPr/>
        </p:nvPicPr>
        <p:blipFill>
          <a:blip r:embed="rId3">
            <a:alphaModFix/>
          </a:blip>
          <a:stretch>
            <a:fillRect/>
          </a:stretch>
        </p:blipFill>
        <p:spPr>
          <a:xfrm>
            <a:off x="5714425" y="866250"/>
            <a:ext cx="1704676" cy="4063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Topic Detection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Topic Detection – Methodology</a:t>
            </a:r>
            <a:endParaRPr/>
          </a:p>
        </p:txBody>
      </p:sp>
      <p:sp>
        <p:nvSpPr>
          <p:cNvPr id="122" name="Google Shape;122;p21"/>
          <p:cNvSpPr txBox="1"/>
          <p:nvPr/>
        </p:nvSpPr>
        <p:spPr>
          <a:xfrm>
            <a:off x="721300" y="978175"/>
            <a:ext cx="7149300" cy="36732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SzPts val="1200"/>
              <a:buFont typeface="Roboto"/>
              <a:buChar char="●"/>
            </a:pPr>
            <a:r>
              <a:rPr lang="en" sz="1200">
                <a:latin typeface="Roboto"/>
                <a:ea typeface="Roboto"/>
                <a:cs typeface="Roboto"/>
                <a:sym typeface="Roboto"/>
              </a:rPr>
              <a:t>Tried 3 topic modeling methods on article text and titles: LDA, NMF, BERTopic</a:t>
            </a:r>
            <a:endParaRPr sz="1200">
              <a:latin typeface="Roboto"/>
              <a:ea typeface="Roboto"/>
              <a:cs typeface="Roboto"/>
              <a:sym typeface="Roboto"/>
            </a:endParaRPr>
          </a:p>
          <a:p>
            <a:pPr indent="-304800" lvl="0" marL="457200" marR="0" rtl="0" algn="l">
              <a:lnSpc>
                <a:spcPct val="115000"/>
              </a:lnSpc>
              <a:spcBef>
                <a:spcPts val="0"/>
              </a:spcBef>
              <a:spcAft>
                <a:spcPts val="0"/>
              </a:spcAft>
              <a:buSzPts val="1200"/>
              <a:buFont typeface="Roboto"/>
              <a:buChar char="●"/>
            </a:pPr>
            <a:r>
              <a:rPr lang="en" sz="1200">
                <a:latin typeface="Roboto"/>
                <a:ea typeface="Roboto"/>
                <a:cs typeface="Roboto"/>
                <a:sym typeface="Roboto"/>
              </a:rPr>
              <a:t>Latent Dirichlet Allocation (LDA)</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Probabilistic generative model that assumes documents are mixtures of topics and topics are mixtures of words</a:t>
            </a:r>
            <a:endParaRPr sz="1200">
              <a:latin typeface="Roboto"/>
              <a:ea typeface="Roboto"/>
              <a:cs typeface="Roboto"/>
              <a:sym typeface="Roboto"/>
            </a:endParaRPr>
          </a:p>
          <a:p>
            <a:pPr indent="-304800" lvl="1" marL="914400" rtl="0" algn="l">
              <a:lnSpc>
                <a:spcPct val="115000"/>
              </a:lnSpc>
              <a:spcBef>
                <a:spcPts val="0"/>
              </a:spcBef>
              <a:spcAft>
                <a:spcPts val="0"/>
              </a:spcAft>
              <a:buSzPts val="1200"/>
              <a:buChar char="○"/>
            </a:pPr>
            <a:r>
              <a:rPr lang="en" sz="1200">
                <a:latin typeface="Roboto"/>
                <a:ea typeface="Roboto"/>
                <a:cs typeface="Roboto"/>
                <a:sym typeface="Roboto"/>
              </a:rPr>
              <a:t>Doesn’t capture semantic similarity (Bag-of-Words model)</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Non-negative Matrix Factorization (NMF)</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Matrix factorization method that decomposes a document–term matrix (TF-IDF) into smaller matrices representing topics and word weights</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Deterministic and computationally efficient</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Doesn’t capture semantic similarity (Bag-of-Words model)</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BERTopic</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Uses transformer-based embeddings to represent documents in semantic vector space</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Can produce more nuanced and semantically meaningful topics by better capturing context and similarity between related phrases</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Computationally expensive and stochastic </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b="1" lang="en" sz="1200">
                <a:solidFill>
                  <a:srgbClr val="FF0000"/>
                </a:solidFill>
                <a:latin typeface="Roboto"/>
                <a:ea typeface="Roboto"/>
                <a:cs typeface="Roboto"/>
                <a:sym typeface="Roboto"/>
              </a:rPr>
              <a:t>*BERTopic text was chosen as the best topic detection model since it produced the clearest and most distinct industry-based topics*</a:t>
            </a:r>
            <a:endParaRPr sz="1200">
              <a:latin typeface="Roboto"/>
              <a:ea typeface="Roboto"/>
              <a:cs typeface="Roboto"/>
              <a:sym typeface="Roboto"/>
            </a:endParaRPr>
          </a:p>
          <a:p>
            <a:pPr indent="0" lvl="0" marL="0" rtl="0" algn="l">
              <a:lnSpc>
                <a:spcPct val="115000"/>
              </a:lnSpc>
              <a:spcBef>
                <a:spcPts val="0"/>
              </a:spcBef>
              <a:spcAft>
                <a:spcPts val="0"/>
              </a:spcAft>
              <a:buNone/>
            </a:pPr>
            <a:r>
              <a:t/>
            </a:r>
            <a:endParaRPr sz="1200">
              <a:latin typeface="Roboto"/>
              <a:ea typeface="Roboto"/>
              <a:cs typeface="Roboto"/>
              <a:sym typeface="Roboto"/>
            </a:endParaRPr>
          </a:p>
          <a:p>
            <a:pPr indent="0" lvl="0" marL="0" marR="0" rtl="0" algn="l">
              <a:lnSpc>
                <a:spcPct val="115000"/>
              </a:lnSpc>
              <a:spcBef>
                <a:spcPts val="0"/>
              </a:spcBef>
              <a:spcAft>
                <a:spcPts val="0"/>
              </a:spcAft>
              <a:buNone/>
            </a:pPr>
            <a:r>
              <a:t/>
            </a:r>
            <a:endParaRPr sz="1200">
              <a:latin typeface="Roboto"/>
              <a:ea typeface="Roboto"/>
              <a:cs typeface="Roboto"/>
              <a:sym typeface="Roboto"/>
            </a:endParaRPr>
          </a:p>
          <a:p>
            <a:pPr indent="0" lvl="0" marL="0" marR="0" rtl="0" algn="l">
              <a:lnSpc>
                <a:spcPct val="115000"/>
              </a:lnSpc>
              <a:spcBef>
                <a:spcPts val="0"/>
              </a:spcBef>
              <a:spcAft>
                <a:spcPts val="0"/>
              </a:spcAft>
              <a:buNone/>
            </a:pPr>
            <a:br>
              <a:rPr lang="en" sz="1200">
                <a:latin typeface="Roboto"/>
                <a:ea typeface="Roboto"/>
                <a:cs typeface="Roboto"/>
                <a:sym typeface="Roboto"/>
              </a:rPr>
            </a:br>
            <a:endParaRPr sz="1200">
              <a:latin typeface="Roboto"/>
              <a:ea typeface="Roboto"/>
              <a:cs typeface="Roboto"/>
              <a:sym typeface="Roboto"/>
            </a:endParaRPr>
          </a:p>
          <a:p>
            <a:pPr indent="0" lvl="0" marL="0" rtl="0" algn="l">
              <a:lnSpc>
                <a:spcPct val="115000"/>
              </a:lnSpc>
              <a:spcBef>
                <a:spcPts val="1200"/>
              </a:spcBef>
              <a:spcAft>
                <a:spcPts val="0"/>
              </a:spcAft>
              <a:buNone/>
            </a:pPr>
            <a:r>
              <a:t/>
            </a:r>
            <a:endParaRPr sz="1200">
              <a:latin typeface="Roboto"/>
              <a:ea typeface="Roboto"/>
              <a:cs typeface="Roboto"/>
              <a:sym typeface="Roboto"/>
            </a:endParaRPr>
          </a:p>
          <a:p>
            <a:pPr indent="0" lvl="0" marL="457200" marR="0" rtl="0" algn="l">
              <a:lnSpc>
                <a:spcPct val="115000"/>
              </a:lnSpc>
              <a:spcBef>
                <a:spcPts val="1200"/>
              </a:spcBef>
              <a:spcAft>
                <a:spcPts val="0"/>
              </a:spcAft>
              <a:buNone/>
            </a:pPr>
            <a:r>
              <a:t/>
            </a:r>
            <a:endParaRPr sz="1200">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Topic Detection – </a:t>
            </a:r>
            <a:r>
              <a:rPr lang="en"/>
              <a:t>LDA Text</a:t>
            </a:r>
            <a:endParaRPr/>
          </a:p>
        </p:txBody>
      </p:sp>
      <p:sp>
        <p:nvSpPr>
          <p:cNvPr id="128" name="Google Shape;128;p22"/>
          <p:cNvSpPr txBox="1"/>
          <p:nvPr/>
        </p:nvSpPr>
        <p:spPr>
          <a:xfrm>
            <a:off x="364175" y="773700"/>
            <a:ext cx="5239500" cy="44052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Cleaning (based on Bag-of-Words model): </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Transform to lowercase</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Remove boilerplate website text, timestamps, ticker fragments, separator junk, non-letter text, and stopwords (reduces noise but may slightly limit detection of some bigrams)</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Tokenized each document into a list of individual words</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Trained a phrases model to detect common bigrams in the corpus </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Min word count = 20 times in corpus</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Phrase detection threshold = 10 (score that shows how strongly two words must be associated) </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Built gensim dictionary from corpus to filter rare and overly common terms: </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Remove terms that appeared in fewer than 1% of documents</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Remove terms that appeared in more than 50% of documents</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Converted each document into a bag-of-words representation</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Trained final LDA model with 14 topics, selected based on the where coherence score starts to plateau</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Refer to intertopic distance map in zip file</a:t>
            </a:r>
            <a:endParaRPr sz="1200">
              <a:solidFill>
                <a:srgbClr val="1F1F1F"/>
              </a:solidFill>
              <a:latin typeface="Roboto"/>
              <a:ea typeface="Roboto"/>
              <a:cs typeface="Roboto"/>
              <a:sym typeface="Roboto"/>
            </a:endParaRPr>
          </a:p>
        </p:txBody>
      </p:sp>
      <p:graphicFrame>
        <p:nvGraphicFramePr>
          <p:cNvPr id="129" name="Google Shape;129;p22"/>
          <p:cNvGraphicFramePr/>
          <p:nvPr/>
        </p:nvGraphicFramePr>
        <p:xfrm>
          <a:off x="5701800" y="2243700"/>
          <a:ext cx="3000000" cy="3000000"/>
        </p:xfrm>
        <a:graphic>
          <a:graphicData uri="http://schemas.openxmlformats.org/drawingml/2006/table">
            <a:tbl>
              <a:tblPr>
                <a:noFill/>
                <a:tableStyleId>{AECBC6A3-EEB5-4E53-B1B5-FC37A78BE2B4}</a:tableStyleId>
              </a:tblPr>
              <a:tblGrid>
                <a:gridCol w="606425"/>
                <a:gridCol w="2279150"/>
              </a:tblGrid>
              <a:tr h="186725">
                <a:tc>
                  <a:txBody>
                    <a:bodyPr/>
                    <a:lstStyle/>
                    <a:p>
                      <a:pPr indent="0" lvl="0" marL="0" rtl="0" algn="ctr">
                        <a:lnSpc>
                          <a:spcPct val="6000"/>
                        </a:lnSpc>
                        <a:spcBef>
                          <a:spcPts val="0"/>
                        </a:spcBef>
                        <a:spcAft>
                          <a:spcPts val="0"/>
                        </a:spcAft>
                        <a:buNone/>
                      </a:pPr>
                      <a:r>
                        <a:rPr b="1" lang="en" sz="800">
                          <a:latin typeface="Roboto"/>
                          <a:ea typeface="Roboto"/>
                          <a:cs typeface="Roboto"/>
                          <a:sym typeface="Roboto"/>
                        </a:rPr>
                        <a:t>Topic</a:t>
                      </a:r>
                      <a:endParaRPr b="1"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800">
                          <a:latin typeface="Roboto"/>
                          <a:ea typeface="Roboto"/>
                          <a:cs typeface="Roboto"/>
                          <a:sym typeface="Roboto"/>
                        </a:rPr>
                        <a:t>Industry Label</a:t>
                      </a:r>
                      <a:endParaRPr b="1"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6725">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1</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Public Discussion of AI &amp; ChatGPT</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6725">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2</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AI Companies &amp; Global Politics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6725">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3</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Enterprise AI &amp; Cloud Solutions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6725">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4</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Local News / Media Content</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6725">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5</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AI Markets, Crypto &amp; Investment</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6725">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6</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AI Tools &amp; Generative Applications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6725">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7</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AI in Healthcare &amp; Scientific Research</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6725">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8</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Consumer Tech &amp; AI Products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6725">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9</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Website Navigation / Social Media Content</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6725">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10</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Stock Markets &amp; Financial Trading</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6725">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11</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General Industry &amp; Product Releases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415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12</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India Financial &amp; Market News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415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13</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Press Release Distribution Content</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00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14</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Global Economic &amp; Energy Markets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130" name="Google Shape;130;p22"/>
          <p:cNvPicPr preferRelativeResize="0"/>
          <p:nvPr/>
        </p:nvPicPr>
        <p:blipFill>
          <a:blip r:embed="rId3">
            <a:alphaModFix/>
          </a:blip>
          <a:stretch>
            <a:fillRect/>
          </a:stretch>
        </p:blipFill>
        <p:spPr>
          <a:xfrm>
            <a:off x="5924500" y="650800"/>
            <a:ext cx="2430154" cy="15547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Topic Detection – </a:t>
            </a:r>
            <a:r>
              <a:rPr lang="en"/>
              <a:t>LDA Title</a:t>
            </a:r>
            <a:endParaRPr/>
          </a:p>
        </p:txBody>
      </p:sp>
      <p:sp>
        <p:nvSpPr>
          <p:cNvPr id="136" name="Google Shape;136;p23"/>
          <p:cNvSpPr txBox="1"/>
          <p:nvPr/>
        </p:nvSpPr>
        <p:spPr>
          <a:xfrm>
            <a:off x="348675" y="1001950"/>
            <a:ext cx="3972000" cy="14316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Applied the same cleaning and preprocessing steps used for the text version</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Trained the final LDA model with 12 topics, selected based on the highest coherence score among candidate models</a:t>
            </a:r>
            <a:endParaRPr sz="1200">
              <a:solidFill>
                <a:srgbClr val="1F1F1F"/>
              </a:solidFill>
              <a:latin typeface="Roboto"/>
              <a:ea typeface="Roboto"/>
              <a:cs typeface="Roboto"/>
              <a:sym typeface="Roboto"/>
            </a:endParaRPr>
          </a:p>
          <a:p>
            <a:pPr indent="-304800" lvl="0" marL="45720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Refer to intertopic distance map in zip file</a:t>
            </a:r>
            <a:endParaRPr sz="1200">
              <a:solidFill>
                <a:srgbClr val="1F1F1F"/>
              </a:solidFill>
              <a:latin typeface="Roboto"/>
              <a:ea typeface="Roboto"/>
              <a:cs typeface="Roboto"/>
              <a:sym typeface="Roboto"/>
            </a:endParaRPr>
          </a:p>
        </p:txBody>
      </p:sp>
      <p:graphicFrame>
        <p:nvGraphicFramePr>
          <p:cNvPr id="137" name="Google Shape;137;p23"/>
          <p:cNvGraphicFramePr/>
          <p:nvPr/>
        </p:nvGraphicFramePr>
        <p:xfrm>
          <a:off x="4759600" y="2303225"/>
          <a:ext cx="3000000" cy="3000000"/>
        </p:xfrm>
        <a:graphic>
          <a:graphicData uri="http://schemas.openxmlformats.org/drawingml/2006/table">
            <a:tbl>
              <a:tblPr>
                <a:noFill/>
                <a:tableStyleId>{AECBC6A3-EEB5-4E53-B1B5-FC37A78BE2B4}</a:tableStyleId>
              </a:tblPr>
              <a:tblGrid>
                <a:gridCol w="557125"/>
                <a:gridCol w="3091850"/>
              </a:tblGrid>
              <a:tr h="210425">
                <a:tc>
                  <a:txBody>
                    <a:bodyPr/>
                    <a:lstStyle/>
                    <a:p>
                      <a:pPr indent="0" lvl="0" marL="0" rtl="0" algn="ctr">
                        <a:lnSpc>
                          <a:spcPct val="6000"/>
                        </a:lnSpc>
                        <a:spcBef>
                          <a:spcPts val="0"/>
                        </a:spcBef>
                        <a:spcAft>
                          <a:spcPts val="0"/>
                        </a:spcAft>
                        <a:buNone/>
                      </a:pPr>
                      <a:r>
                        <a:rPr b="1" lang="en" sz="1100">
                          <a:latin typeface="Roboto"/>
                          <a:ea typeface="Roboto"/>
                          <a:cs typeface="Roboto"/>
                          <a:sym typeface="Roboto"/>
                        </a:rPr>
                        <a:t>Topic</a:t>
                      </a:r>
                      <a:endParaRPr b="1"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1100">
                          <a:latin typeface="Roboto"/>
                          <a:ea typeface="Roboto"/>
                          <a:cs typeface="Roboto"/>
                          <a:sym typeface="Roboto"/>
                        </a:rPr>
                        <a:t>Industry Label</a:t>
                      </a:r>
                      <a:endParaRPr b="1"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0425">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1</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General AI Market &amp; Industry Growth</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0425">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2</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AI Innovation &amp; Technology Development</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0425">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3</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Big Tech AI News</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0425">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4</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Big Tech AI Products &amp; Platforms</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0425">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5</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OpenAI Leadership &amp; Model Development</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0425">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6</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Data Science &amp; AI Infrastructure</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0425">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7</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AI Chips, Stocks &amp; Market Performance</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0425">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8</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Emerging AI Technology Trends</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0425">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9</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Enterprise AI &amp; Digital Transformation</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0425">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10</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Global AI Tech &amp; Security News</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0425">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11</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AI Industry Leaders &amp; Rivalries</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0425">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12</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100">
                          <a:latin typeface="Roboto"/>
                          <a:ea typeface="Roboto"/>
                          <a:cs typeface="Roboto"/>
                          <a:sym typeface="Roboto"/>
                        </a:rPr>
                        <a:t>Consumer AI Applications</a:t>
                      </a:r>
                      <a:endParaRPr sz="11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38" name="Google Shape;138;p23"/>
          <p:cNvSpPr txBox="1"/>
          <p:nvPr/>
        </p:nvSpPr>
        <p:spPr>
          <a:xfrm>
            <a:off x="4485075" y="788200"/>
            <a:ext cx="4038600" cy="1095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latin typeface="Roboto"/>
                <a:ea typeface="Roboto"/>
                <a:cs typeface="Roboto"/>
                <a:sym typeface="Roboto"/>
              </a:rPr>
              <a:t>LDA was not industry-specific enough since it relies on word co-occurrence, often grouping articles around AI/tech themes than clean industry groupings</a:t>
            </a:r>
            <a:endParaRPr sz="1200">
              <a:latin typeface="Roboto"/>
              <a:ea typeface="Roboto"/>
              <a:cs typeface="Roboto"/>
              <a:sym typeface="Roboto"/>
            </a:endParaRPr>
          </a:p>
          <a:p>
            <a:pPr indent="-304800" lvl="0" marL="457200" rtl="0" algn="l">
              <a:spcBef>
                <a:spcPts val="0"/>
              </a:spcBef>
              <a:spcAft>
                <a:spcPts val="0"/>
              </a:spcAft>
              <a:buSzPts val="1200"/>
              <a:buChar char="●"/>
            </a:pPr>
            <a:r>
              <a:rPr lang="en" sz="1200">
                <a:latin typeface="Roboto"/>
                <a:ea typeface="Roboto"/>
                <a:cs typeface="Roboto"/>
                <a:sym typeface="Roboto"/>
              </a:rPr>
              <a:t>LDA on titles performed worse than LDA on text because titles have very little context and fewer words</a:t>
            </a:r>
            <a:endParaRPr sz="1200">
              <a:latin typeface="Roboto"/>
              <a:ea typeface="Roboto"/>
              <a:cs typeface="Roboto"/>
              <a:sym typeface="Roboto"/>
            </a:endParaRPr>
          </a:p>
        </p:txBody>
      </p:sp>
      <p:pic>
        <p:nvPicPr>
          <p:cNvPr id="139" name="Google Shape;139;p23"/>
          <p:cNvPicPr preferRelativeResize="0"/>
          <p:nvPr/>
        </p:nvPicPr>
        <p:blipFill>
          <a:blip r:embed="rId3">
            <a:alphaModFix/>
          </a:blip>
          <a:stretch>
            <a:fillRect/>
          </a:stretch>
        </p:blipFill>
        <p:spPr>
          <a:xfrm>
            <a:off x="348673" y="2465502"/>
            <a:ext cx="3768500" cy="24109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Topic Detection – </a:t>
            </a:r>
            <a:r>
              <a:rPr lang="en"/>
              <a:t>NMF Text</a:t>
            </a:r>
            <a:endParaRPr/>
          </a:p>
        </p:txBody>
      </p:sp>
      <p:sp>
        <p:nvSpPr>
          <p:cNvPr id="145" name="Google Shape;145;p24"/>
          <p:cNvSpPr txBox="1"/>
          <p:nvPr/>
        </p:nvSpPr>
        <p:spPr>
          <a:xfrm>
            <a:off x="502225" y="1488450"/>
            <a:ext cx="1075500" cy="8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latin typeface="Roboto"/>
              <a:ea typeface="Roboto"/>
              <a:cs typeface="Roboto"/>
              <a:sym typeface="Roboto"/>
            </a:endParaRPr>
          </a:p>
        </p:txBody>
      </p:sp>
      <p:sp>
        <p:nvSpPr>
          <p:cNvPr id="146" name="Google Shape;146;p24"/>
          <p:cNvSpPr txBox="1"/>
          <p:nvPr/>
        </p:nvSpPr>
        <p:spPr>
          <a:xfrm>
            <a:off x="440525" y="977825"/>
            <a:ext cx="4386300" cy="33219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1F1F1F"/>
              </a:buClr>
              <a:buSzPts val="1100"/>
              <a:buChar char="●"/>
            </a:pPr>
            <a:r>
              <a:rPr lang="en" sz="1200">
                <a:latin typeface="Roboto"/>
                <a:ea typeface="Roboto"/>
                <a:cs typeface="Roboto"/>
                <a:sym typeface="Roboto"/>
              </a:rPr>
              <a:t>Cleaning (based on Bag-of-Words model): </a:t>
            </a:r>
            <a:endParaRPr sz="1200">
              <a:latin typeface="Roboto"/>
              <a:ea typeface="Roboto"/>
              <a:cs typeface="Roboto"/>
              <a:sym typeface="Roboto"/>
            </a:endParaRPr>
          </a:p>
          <a:p>
            <a:pPr indent="-298450" lvl="1" marL="914400" rtl="0" algn="l">
              <a:lnSpc>
                <a:spcPct val="115000"/>
              </a:lnSpc>
              <a:spcBef>
                <a:spcPts val="0"/>
              </a:spcBef>
              <a:spcAft>
                <a:spcPts val="0"/>
              </a:spcAft>
              <a:buClr>
                <a:srgbClr val="1F1F1F"/>
              </a:buClr>
              <a:buSzPts val="1100"/>
              <a:buChar char="○"/>
            </a:pPr>
            <a:r>
              <a:rPr lang="en" sz="1200">
                <a:latin typeface="Roboto"/>
                <a:ea typeface="Roboto"/>
                <a:cs typeface="Roboto"/>
                <a:sym typeface="Roboto"/>
              </a:rPr>
              <a:t>Transform to lowercase</a:t>
            </a:r>
            <a:endParaRPr sz="1200">
              <a:latin typeface="Roboto"/>
              <a:ea typeface="Roboto"/>
              <a:cs typeface="Roboto"/>
              <a:sym typeface="Roboto"/>
            </a:endParaRPr>
          </a:p>
          <a:p>
            <a:pPr indent="-298450" lvl="1" marL="914400" rtl="0" algn="l">
              <a:lnSpc>
                <a:spcPct val="115000"/>
              </a:lnSpc>
              <a:spcBef>
                <a:spcPts val="0"/>
              </a:spcBef>
              <a:spcAft>
                <a:spcPts val="0"/>
              </a:spcAft>
              <a:buClr>
                <a:srgbClr val="1F1F1F"/>
              </a:buClr>
              <a:buSzPts val="1100"/>
              <a:buChar char="○"/>
            </a:pPr>
            <a:r>
              <a:rPr lang="en" sz="1200">
                <a:solidFill>
                  <a:srgbClr val="1F1F1F"/>
                </a:solidFill>
                <a:latin typeface="Roboto"/>
                <a:ea typeface="Roboto"/>
                <a:cs typeface="Roboto"/>
                <a:sym typeface="Roboto"/>
              </a:rPr>
              <a:t>Remove boilerplate website text, timestamps, ticker fragments, separator junk, non-letter text, and stopwords (reduces noise but may slightly limit detection of some bigrams)</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Convert words into TF-IDF matrix (weights words by their frequency within a document and rarity across the corpus) </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Include unigram and bigram phrases</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Limit vocab to top 50000 words</a:t>
            </a:r>
            <a:endParaRPr sz="1200">
              <a:latin typeface="Roboto"/>
              <a:ea typeface="Roboto"/>
              <a:cs typeface="Roboto"/>
              <a:sym typeface="Roboto"/>
            </a:endParaRPr>
          </a:p>
          <a:p>
            <a:pPr indent="-304800" lvl="1" marL="914400" rtl="0" algn="l">
              <a:lnSpc>
                <a:spcPct val="115000"/>
              </a:lnSpc>
              <a:spcBef>
                <a:spcPts val="0"/>
              </a:spcBef>
              <a:spcAft>
                <a:spcPts val="0"/>
              </a:spcAft>
              <a:buSzPts val="1200"/>
              <a:buChar char="○"/>
            </a:pPr>
            <a:r>
              <a:rPr lang="en" sz="1200">
                <a:latin typeface="Roboto"/>
                <a:ea typeface="Roboto"/>
                <a:cs typeface="Roboto"/>
                <a:sym typeface="Roboto"/>
              </a:rPr>
              <a:t>Exclude words that appear in more than 60% of documents</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Keep terms appearing in at least 20 documents</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Selected 12 topics based on a slight elbow in the reconstruction error curve</a:t>
            </a:r>
            <a:endParaRPr sz="1200">
              <a:latin typeface="Roboto"/>
              <a:ea typeface="Roboto"/>
              <a:cs typeface="Roboto"/>
              <a:sym typeface="Roboto"/>
            </a:endParaRPr>
          </a:p>
        </p:txBody>
      </p:sp>
      <p:graphicFrame>
        <p:nvGraphicFramePr>
          <p:cNvPr id="147" name="Google Shape;147;p24"/>
          <p:cNvGraphicFramePr/>
          <p:nvPr/>
        </p:nvGraphicFramePr>
        <p:xfrm>
          <a:off x="5591325" y="2509825"/>
          <a:ext cx="3000000" cy="3000000"/>
        </p:xfrm>
        <a:graphic>
          <a:graphicData uri="http://schemas.openxmlformats.org/drawingml/2006/table">
            <a:tbl>
              <a:tblPr>
                <a:noFill/>
                <a:tableStyleId>{AECBC6A3-EEB5-4E53-B1B5-FC37A78BE2B4}</a:tableStyleId>
              </a:tblPr>
              <a:tblGrid>
                <a:gridCol w="582650"/>
                <a:gridCol w="2428975"/>
              </a:tblGrid>
              <a:tr h="132800">
                <a:tc>
                  <a:txBody>
                    <a:bodyPr/>
                    <a:lstStyle/>
                    <a:p>
                      <a:pPr indent="0" lvl="0" marL="0" rtl="0" algn="ctr">
                        <a:lnSpc>
                          <a:spcPct val="6000"/>
                        </a:lnSpc>
                        <a:spcBef>
                          <a:spcPts val="0"/>
                        </a:spcBef>
                        <a:spcAft>
                          <a:spcPts val="0"/>
                        </a:spcAft>
                        <a:buNone/>
                      </a:pPr>
                      <a:r>
                        <a:rPr b="1" lang="en" sz="800">
                          <a:latin typeface="Roboto"/>
                          <a:ea typeface="Roboto"/>
                          <a:cs typeface="Roboto"/>
                          <a:sym typeface="Roboto"/>
                        </a:rPr>
                        <a:t>Topic</a:t>
                      </a:r>
                      <a:endParaRPr b="1"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800">
                          <a:latin typeface="Roboto"/>
                          <a:ea typeface="Roboto"/>
                          <a:cs typeface="Roboto"/>
                          <a:sym typeface="Roboto"/>
                        </a:rPr>
                        <a:t>Industry Label</a:t>
                      </a:r>
                      <a:endParaRPr b="1"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28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0</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Enterprise Software &amp; Digital Transformation</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28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1</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Corporate Announcements &amp; Press Releases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28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2</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Enterprise Technology &amp; Business Solutions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28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3</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Financial Markets &amp; AI Stocks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28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4</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Global Market News &amp; Industry Reports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28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5</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Workforce &amp; Data Science Careers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28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6</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Finance, Equities &amp; Crypto Assets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28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7</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General News / Local News AI Coverage</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28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8</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Local Media &amp; News Site Boilerplate</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28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9</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General AI Industry News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00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10</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Consumer Technology &amp; Devices</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2800">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11</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800">
                          <a:latin typeface="Roboto"/>
                          <a:ea typeface="Roboto"/>
                          <a:cs typeface="Roboto"/>
                          <a:sym typeface="Roboto"/>
                        </a:rPr>
                        <a:t>Date / Template Boilerplate</a:t>
                      </a:r>
                      <a:endParaRPr sz="8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148" name="Google Shape;148;p24"/>
          <p:cNvPicPr preferRelativeResize="0"/>
          <p:nvPr/>
        </p:nvPicPr>
        <p:blipFill>
          <a:blip r:embed="rId3">
            <a:alphaModFix/>
          </a:blip>
          <a:stretch>
            <a:fillRect/>
          </a:stretch>
        </p:blipFill>
        <p:spPr>
          <a:xfrm>
            <a:off x="5980400" y="708631"/>
            <a:ext cx="2351826" cy="171161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Topic Detection – </a:t>
            </a:r>
            <a:r>
              <a:rPr lang="en"/>
              <a:t>NMF Title</a:t>
            </a:r>
            <a:endParaRPr/>
          </a:p>
        </p:txBody>
      </p:sp>
      <p:sp>
        <p:nvSpPr>
          <p:cNvPr id="154" name="Google Shape;154;p25"/>
          <p:cNvSpPr txBox="1"/>
          <p:nvPr/>
        </p:nvSpPr>
        <p:spPr>
          <a:xfrm>
            <a:off x="502225" y="1488450"/>
            <a:ext cx="1075500" cy="8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
        <p:nvSpPr>
          <p:cNvPr id="155" name="Google Shape;155;p25"/>
          <p:cNvSpPr txBox="1"/>
          <p:nvPr/>
        </p:nvSpPr>
        <p:spPr>
          <a:xfrm>
            <a:off x="43475" y="844250"/>
            <a:ext cx="3678900" cy="10902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Applied the same cleaning and preprocessing steps used for the text version</a:t>
            </a:r>
            <a:endParaRPr sz="1200">
              <a:solidFill>
                <a:srgbClr val="1F1F1F"/>
              </a:solidFill>
              <a:latin typeface="Roboto"/>
              <a:ea typeface="Roboto"/>
              <a:cs typeface="Roboto"/>
              <a:sym typeface="Roboto"/>
            </a:endParaRPr>
          </a:p>
          <a:p>
            <a:pPr indent="-304800" lvl="0" marL="457200" rtl="0" algn="l">
              <a:lnSpc>
                <a:spcPct val="115000"/>
              </a:lnSpc>
              <a:spcBef>
                <a:spcPts val="0"/>
              </a:spcBef>
              <a:spcAft>
                <a:spcPts val="0"/>
              </a:spcAft>
              <a:buClr>
                <a:srgbClr val="1F1F1F"/>
              </a:buClr>
              <a:buSzPts val="1200"/>
              <a:buFont typeface="Roboto"/>
              <a:buChar char="●"/>
            </a:pPr>
            <a:r>
              <a:rPr lang="en" sz="1200">
                <a:latin typeface="Roboto"/>
                <a:ea typeface="Roboto"/>
                <a:cs typeface="Roboto"/>
                <a:sym typeface="Roboto"/>
              </a:rPr>
              <a:t>Selected 16 topics based on an extremely slight elbow in the reconstruction error curve</a:t>
            </a:r>
            <a:endParaRPr sz="1200">
              <a:solidFill>
                <a:srgbClr val="1F1F1F"/>
              </a:solidFill>
              <a:latin typeface="Roboto"/>
              <a:ea typeface="Roboto"/>
              <a:cs typeface="Roboto"/>
              <a:sym typeface="Roboto"/>
            </a:endParaRPr>
          </a:p>
          <a:p>
            <a:pPr indent="0" lvl="0" marL="0" marR="0" rtl="0" algn="l">
              <a:lnSpc>
                <a:spcPct val="115000"/>
              </a:lnSpc>
              <a:spcBef>
                <a:spcPts val="0"/>
              </a:spcBef>
              <a:spcAft>
                <a:spcPts val="0"/>
              </a:spcAft>
              <a:buNone/>
            </a:pPr>
            <a:r>
              <a:t/>
            </a:r>
            <a:endParaRPr sz="1200">
              <a:latin typeface="Roboto"/>
              <a:ea typeface="Roboto"/>
              <a:cs typeface="Roboto"/>
              <a:sym typeface="Roboto"/>
            </a:endParaRPr>
          </a:p>
        </p:txBody>
      </p:sp>
      <p:graphicFrame>
        <p:nvGraphicFramePr>
          <p:cNvPr id="156" name="Google Shape;156;p25"/>
          <p:cNvGraphicFramePr/>
          <p:nvPr/>
        </p:nvGraphicFramePr>
        <p:xfrm>
          <a:off x="6191350" y="996450"/>
          <a:ext cx="3000000" cy="3000000"/>
        </p:xfrm>
        <a:graphic>
          <a:graphicData uri="http://schemas.openxmlformats.org/drawingml/2006/table">
            <a:tbl>
              <a:tblPr>
                <a:noFill/>
                <a:tableStyleId>{AECBC6A3-EEB5-4E53-B1B5-FC37A78BE2B4}</a:tableStyleId>
              </a:tblPr>
              <a:tblGrid>
                <a:gridCol w="557125"/>
                <a:gridCol w="2208350"/>
              </a:tblGrid>
              <a:tr h="211625">
                <a:tc>
                  <a:txBody>
                    <a:bodyPr/>
                    <a:lstStyle/>
                    <a:p>
                      <a:pPr indent="0" lvl="0" marL="0" rtl="0" algn="ctr">
                        <a:lnSpc>
                          <a:spcPct val="6000"/>
                        </a:lnSpc>
                        <a:spcBef>
                          <a:spcPts val="0"/>
                        </a:spcBef>
                        <a:spcAft>
                          <a:spcPts val="0"/>
                        </a:spcAft>
                        <a:buNone/>
                      </a:pPr>
                      <a:r>
                        <a:rPr b="1" lang="en" sz="1000">
                          <a:latin typeface="Roboto"/>
                          <a:ea typeface="Roboto"/>
                          <a:cs typeface="Roboto"/>
                          <a:sym typeface="Roboto"/>
                        </a:rPr>
                        <a:t>Topic</a:t>
                      </a:r>
                      <a:endParaRPr b="1"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1000">
                          <a:latin typeface="Roboto"/>
                          <a:ea typeface="Roboto"/>
                          <a:cs typeface="Roboto"/>
                          <a:sym typeface="Roboto"/>
                        </a:rPr>
                        <a:t>Industry Label</a:t>
                      </a:r>
                      <a:endParaRPr b="1"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16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0</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General AI Industry News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207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Workforce &amp; Data Science Careers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207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AI Product Launches &amp; Applications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16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Enterprise Generative AI</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207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Applied AI &amp; Machine Learning</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207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OpenAI &amp; AI Leadership News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207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ChatGPT Consumer Use Cases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16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General Tech News &amp; Policy</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16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AI Stocks &amp; Semiconductors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16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Google AI &amp; Cloud Platforms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16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India &amp; Global AI News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207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Data Infrastructure &amp; Enterprise AI</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16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AI Art &amp; Visual Media</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207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AI Products, Agents &amp; Assistants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16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AI Crypto &amp; Market Forecasts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207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Elon Musk, xAI &amp; AI Controversy</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157" name="Google Shape;157;p25"/>
          <p:cNvPicPr preferRelativeResize="0"/>
          <p:nvPr/>
        </p:nvPicPr>
        <p:blipFill>
          <a:blip r:embed="rId3">
            <a:alphaModFix/>
          </a:blip>
          <a:stretch>
            <a:fillRect/>
          </a:stretch>
        </p:blipFill>
        <p:spPr>
          <a:xfrm>
            <a:off x="98250" y="2221903"/>
            <a:ext cx="3625750" cy="2638775"/>
          </a:xfrm>
          <a:prstGeom prst="rect">
            <a:avLst/>
          </a:prstGeom>
          <a:noFill/>
          <a:ln>
            <a:noFill/>
          </a:ln>
        </p:spPr>
      </p:pic>
      <p:sp>
        <p:nvSpPr>
          <p:cNvPr id="158" name="Google Shape;158;p25"/>
          <p:cNvSpPr txBox="1"/>
          <p:nvPr/>
        </p:nvSpPr>
        <p:spPr>
          <a:xfrm>
            <a:off x="3662201" y="1144300"/>
            <a:ext cx="2441400" cy="27585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SzPts val="1200"/>
              <a:buChar char="●"/>
            </a:pPr>
            <a:r>
              <a:rPr lang="en" sz="1200">
                <a:latin typeface="Roboto"/>
                <a:ea typeface="Roboto"/>
                <a:cs typeface="Roboto"/>
                <a:sym typeface="Roboto"/>
              </a:rPr>
              <a:t>NMF was clearer than LDA, but still leaned more toward AI/tech themes than clean industry groupings </a:t>
            </a:r>
            <a:r>
              <a:rPr lang="en" sz="1200">
                <a:latin typeface="Roboto"/>
                <a:ea typeface="Roboto"/>
                <a:cs typeface="Roboto"/>
                <a:sym typeface="Roboto"/>
              </a:rPr>
              <a:t>since it still relies on word co-occurrence</a:t>
            </a:r>
            <a:r>
              <a:rPr lang="en" sz="1200">
                <a:latin typeface="Roboto"/>
                <a:ea typeface="Roboto"/>
                <a:cs typeface="Roboto"/>
                <a:sym typeface="Roboto"/>
              </a:rPr>
              <a:t> </a:t>
            </a:r>
            <a:endParaRPr b="1"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NMF on text was broader  and some topics still picked up boilerplate, where as NMF on titles was more specific, sometimes down to country or company level </a:t>
            </a:r>
            <a:endParaRPr sz="1200">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Topic Detection – </a:t>
            </a:r>
            <a:r>
              <a:rPr lang="en"/>
              <a:t>BERTopic Text</a:t>
            </a:r>
            <a:endParaRPr/>
          </a:p>
        </p:txBody>
      </p:sp>
      <p:sp>
        <p:nvSpPr>
          <p:cNvPr id="164" name="Google Shape;164;p26"/>
          <p:cNvSpPr txBox="1"/>
          <p:nvPr/>
        </p:nvSpPr>
        <p:spPr>
          <a:xfrm>
            <a:off x="0" y="619050"/>
            <a:ext cx="5525400" cy="4488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1F1F1F"/>
              </a:buClr>
              <a:buSzPts val="1100"/>
              <a:buChar char="●"/>
            </a:pPr>
            <a:r>
              <a:rPr lang="en" sz="1100">
                <a:latin typeface="Roboto"/>
                <a:ea typeface="Roboto"/>
                <a:cs typeface="Roboto"/>
                <a:sym typeface="Roboto"/>
              </a:rPr>
              <a:t>Cleaning (based on Bag-of-Words model): </a:t>
            </a:r>
            <a:endParaRPr sz="1100">
              <a:latin typeface="Roboto"/>
              <a:ea typeface="Roboto"/>
              <a:cs typeface="Roboto"/>
              <a:sym typeface="Roboto"/>
            </a:endParaRPr>
          </a:p>
          <a:p>
            <a:pPr indent="-298450" lvl="1" marL="914400" rtl="0" algn="l">
              <a:lnSpc>
                <a:spcPct val="115000"/>
              </a:lnSpc>
              <a:spcBef>
                <a:spcPts val="0"/>
              </a:spcBef>
              <a:spcAft>
                <a:spcPts val="0"/>
              </a:spcAft>
              <a:buClr>
                <a:srgbClr val="1F1F1F"/>
              </a:buClr>
              <a:buSzPts val="1100"/>
              <a:buChar char="○"/>
            </a:pPr>
            <a:r>
              <a:rPr lang="en" sz="1100">
                <a:latin typeface="Roboto"/>
                <a:ea typeface="Roboto"/>
                <a:cs typeface="Roboto"/>
                <a:sym typeface="Roboto"/>
              </a:rPr>
              <a:t>Transform to lowercase</a:t>
            </a:r>
            <a:endParaRPr sz="1100">
              <a:latin typeface="Roboto"/>
              <a:ea typeface="Roboto"/>
              <a:cs typeface="Roboto"/>
              <a:sym typeface="Roboto"/>
            </a:endParaRPr>
          </a:p>
          <a:p>
            <a:pPr indent="-298450" lvl="1" marL="914400" rtl="0" algn="l">
              <a:lnSpc>
                <a:spcPct val="115000"/>
              </a:lnSpc>
              <a:spcBef>
                <a:spcPts val="0"/>
              </a:spcBef>
              <a:spcAft>
                <a:spcPts val="0"/>
              </a:spcAft>
              <a:buClr>
                <a:srgbClr val="1F1F1F"/>
              </a:buClr>
              <a:buSzPts val="1100"/>
              <a:buChar char="○"/>
            </a:pPr>
            <a:r>
              <a:rPr lang="en" sz="1100">
                <a:solidFill>
                  <a:srgbClr val="1F1F1F"/>
                </a:solidFill>
                <a:latin typeface="Roboto"/>
                <a:ea typeface="Roboto"/>
                <a:cs typeface="Roboto"/>
                <a:sym typeface="Roboto"/>
              </a:rPr>
              <a:t>Remove boilerplate website text, timestamps, ticker fragments, separator junk, non-letter text, and stopwords (reduces noise but may slightly limit detection of some bigrams)</a:t>
            </a:r>
            <a:endParaRPr sz="1100">
              <a:latin typeface="Roboto"/>
              <a:ea typeface="Roboto"/>
              <a:cs typeface="Roboto"/>
              <a:sym typeface="Roboto"/>
            </a:endParaRPr>
          </a:p>
          <a:p>
            <a:pPr indent="-298450" lvl="0" marL="457200" marR="0" rtl="0" algn="l">
              <a:lnSpc>
                <a:spcPct val="115000"/>
              </a:lnSpc>
              <a:spcBef>
                <a:spcPts val="0"/>
              </a:spcBef>
              <a:spcAft>
                <a:spcPts val="0"/>
              </a:spcAft>
              <a:buClr>
                <a:srgbClr val="1F1F1F"/>
              </a:buClr>
              <a:buSzPts val="1100"/>
              <a:buFont typeface="Roboto"/>
              <a:buChar char="●"/>
            </a:pPr>
            <a:r>
              <a:rPr lang="en" sz="1100">
                <a:solidFill>
                  <a:srgbClr val="1F1F1F"/>
                </a:solidFill>
                <a:latin typeface="Roboto"/>
                <a:ea typeface="Roboto"/>
                <a:cs typeface="Roboto"/>
                <a:sym typeface="Roboto"/>
              </a:rPr>
              <a:t>Generated dense document embeddings using the SentenceTransformer all-MiniLM-L6-v2 model</a:t>
            </a:r>
            <a:endParaRPr sz="1100">
              <a:solidFill>
                <a:srgbClr val="1F1F1F"/>
              </a:solidFill>
              <a:latin typeface="Roboto"/>
              <a:ea typeface="Roboto"/>
              <a:cs typeface="Roboto"/>
              <a:sym typeface="Roboto"/>
            </a:endParaRPr>
          </a:p>
          <a:p>
            <a:pPr indent="-298450" lvl="0" marL="457200" marR="0" rtl="0" algn="l">
              <a:lnSpc>
                <a:spcPct val="115000"/>
              </a:lnSpc>
              <a:spcBef>
                <a:spcPts val="0"/>
              </a:spcBef>
              <a:spcAft>
                <a:spcPts val="0"/>
              </a:spcAft>
              <a:buClr>
                <a:srgbClr val="1F1F1F"/>
              </a:buClr>
              <a:buSzPts val="1100"/>
              <a:buChar char="●"/>
            </a:pPr>
            <a:r>
              <a:rPr lang="en" sz="1100">
                <a:solidFill>
                  <a:srgbClr val="1F1F1F"/>
                </a:solidFill>
                <a:latin typeface="Roboto"/>
                <a:ea typeface="Roboto"/>
                <a:cs typeface="Roboto"/>
                <a:sym typeface="Roboto"/>
              </a:rPr>
              <a:t>Applied UMAP to reduce the high-dimensional embeddings to 5 dimensions</a:t>
            </a:r>
            <a:endParaRPr sz="1100">
              <a:solidFill>
                <a:srgbClr val="1F1F1F"/>
              </a:solidFill>
              <a:latin typeface="Roboto"/>
              <a:ea typeface="Roboto"/>
              <a:cs typeface="Roboto"/>
              <a:sym typeface="Roboto"/>
            </a:endParaRPr>
          </a:p>
          <a:p>
            <a:pPr indent="-298450" lvl="1" marL="914400" marR="0" rtl="0" algn="l">
              <a:lnSpc>
                <a:spcPct val="115000"/>
              </a:lnSpc>
              <a:spcBef>
                <a:spcPts val="0"/>
              </a:spcBef>
              <a:spcAft>
                <a:spcPts val="0"/>
              </a:spcAft>
              <a:buClr>
                <a:srgbClr val="1F1F1F"/>
              </a:buClr>
              <a:buSzPts val="1100"/>
              <a:buFont typeface="Roboto"/>
              <a:buChar char="○"/>
            </a:pPr>
            <a:r>
              <a:rPr lang="en" sz="1100">
                <a:solidFill>
                  <a:srgbClr val="1F1F1F"/>
                </a:solidFill>
                <a:latin typeface="Roboto"/>
                <a:ea typeface="Roboto"/>
                <a:cs typeface="Roboto"/>
                <a:sym typeface="Roboto"/>
              </a:rPr>
              <a:t>n_neighbors=100 </a:t>
            </a:r>
            <a:r>
              <a:rPr lang="en" sz="1100">
                <a:solidFill>
                  <a:srgbClr val="1F1F1F"/>
                </a:solidFill>
                <a:latin typeface="Roboto"/>
                <a:ea typeface="Roboto"/>
                <a:cs typeface="Roboto"/>
                <a:sym typeface="Roboto"/>
              </a:rPr>
              <a:t>each document is positioned using its 100 nearest neighbors, helping preserve broader corpus structure)</a:t>
            </a:r>
            <a:endParaRPr sz="1100">
              <a:solidFill>
                <a:srgbClr val="1F1F1F"/>
              </a:solidFill>
              <a:latin typeface="Roboto"/>
              <a:ea typeface="Roboto"/>
              <a:cs typeface="Roboto"/>
              <a:sym typeface="Roboto"/>
            </a:endParaRPr>
          </a:p>
          <a:p>
            <a:pPr indent="-298450" lvl="1" marL="914400" marR="0" rtl="0" algn="l">
              <a:lnSpc>
                <a:spcPct val="115000"/>
              </a:lnSpc>
              <a:spcBef>
                <a:spcPts val="0"/>
              </a:spcBef>
              <a:spcAft>
                <a:spcPts val="0"/>
              </a:spcAft>
              <a:buClr>
                <a:srgbClr val="1F1F1F"/>
              </a:buClr>
              <a:buSzPts val="1100"/>
              <a:buFont typeface="Roboto"/>
              <a:buChar char="○"/>
            </a:pPr>
            <a:r>
              <a:rPr lang="en" sz="1100">
                <a:solidFill>
                  <a:srgbClr val="1F1F1F"/>
                </a:solidFill>
                <a:latin typeface="Roboto"/>
                <a:ea typeface="Roboto"/>
                <a:cs typeface="Roboto"/>
                <a:sym typeface="Roboto"/>
              </a:rPr>
              <a:t>min_dist=0.1 (controls how tightly points can be packed in the reduced space)</a:t>
            </a:r>
            <a:endParaRPr sz="1100">
              <a:solidFill>
                <a:srgbClr val="1F1F1F"/>
              </a:solidFill>
              <a:latin typeface="Roboto"/>
              <a:ea typeface="Roboto"/>
              <a:cs typeface="Roboto"/>
              <a:sym typeface="Roboto"/>
            </a:endParaRPr>
          </a:p>
          <a:p>
            <a:pPr indent="-298450" lvl="0" marL="457200" marR="0" rtl="0" algn="l">
              <a:lnSpc>
                <a:spcPct val="115000"/>
              </a:lnSpc>
              <a:spcBef>
                <a:spcPts val="0"/>
              </a:spcBef>
              <a:spcAft>
                <a:spcPts val="0"/>
              </a:spcAft>
              <a:buClr>
                <a:srgbClr val="1F1F1F"/>
              </a:buClr>
              <a:buSzPts val="1100"/>
              <a:buFont typeface="Roboto"/>
              <a:buChar char="●"/>
            </a:pPr>
            <a:r>
              <a:rPr lang="en" sz="1100">
                <a:solidFill>
                  <a:srgbClr val="1F1F1F"/>
                </a:solidFill>
                <a:latin typeface="Roboto"/>
                <a:ea typeface="Roboto"/>
                <a:cs typeface="Roboto"/>
                <a:sym typeface="Roboto"/>
              </a:rPr>
              <a:t>Used HDBSCAN to cluster the reduced embeddings into topics, favoring larger and more stable clusters</a:t>
            </a:r>
            <a:endParaRPr sz="1100">
              <a:solidFill>
                <a:srgbClr val="1F1F1F"/>
              </a:solidFill>
              <a:latin typeface="Roboto"/>
              <a:ea typeface="Roboto"/>
              <a:cs typeface="Roboto"/>
              <a:sym typeface="Roboto"/>
            </a:endParaRPr>
          </a:p>
          <a:p>
            <a:pPr indent="-298450" lvl="1" marL="914400" marR="0" rtl="0" algn="l">
              <a:lnSpc>
                <a:spcPct val="115000"/>
              </a:lnSpc>
              <a:spcBef>
                <a:spcPts val="0"/>
              </a:spcBef>
              <a:spcAft>
                <a:spcPts val="0"/>
              </a:spcAft>
              <a:buClr>
                <a:srgbClr val="1F1F1F"/>
              </a:buClr>
              <a:buSzPts val="1100"/>
              <a:buFont typeface="Roboto"/>
              <a:buChar char="○"/>
            </a:pPr>
            <a:r>
              <a:rPr lang="en" sz="1100">
                <a:solidFill>
                  <a:srgbClr val="1F1F1F"/>
                </a:solidFill>
                <a:latin typeface="Roboto"/>
                <a:ea typeface="Roboto"/>
                <a:cs typeface="Roboto"/>
                <a:sym typeface="Roboto"/>
              </a:rPr>
              <a:t>min_cluster_size=975 </a:t>
            </a:r>
            <a:r>
              <a:rPr lang="en" sz="1100">
                <a:solidFill>
                  <a:srgbClr val="1F1F1F"/>
                </a:solidFill>
                <a:latin typeface="Roboto"/>
                <a:ea typeface="Roboto"/>
                <a:cs typeface="Roboto"/>
                <a:sym typeface="Roboto"/>
              </a:rPr>
              <a:t>(a topic must contain at least 975 articles)</a:t>
            </a:r>
            <a:endParaRPr sz="1100">
              <a:solidFill>
                <a:srgbClr val="1F1F1F"/>
              </a:solidFill>
              <a:latin typeface="Roboto"/>
              <a:ea typeface="Roboto"/>
              <a:cs typeface="Roboto"/>
              <a:sym typeface="Roboto"/>
            </a:endParaRPr>
          </a:p>
          <a:p>
            <a:pPr indent="-298450" lvl="1" marL="914400" marR="0" rtl="0" algn="l">
              <a:lnSpc>
                <a:spcPct val="115000"/>
              </a:lnSpc>
              <a:spcBef>
                <a:spcPts val="0"/>
              </a:spcBef>
              <a:spcAft>
                <a:spcPts val="0"/>
              </a:spcAft>
              <a:buClr>
                <a:srgbClr val="1F1F1F"/>
              </a:buClr>
              <a:buSzPts val="1100"/>
              <a:buFont typeface="Roboto"/>
              <a:buChar char="○"/>
            </a:pPr>
            <a:r>
              <a:rPr lang="en" sz="1100">
                <a:solidFill>
                  <a:srgbClr val="1F1F1F"/>
                </a:solidFill>
                <a:latin typeface="Roboto"/>
                <a:ea typeface="Roboto"/>
                <a:cs typeface="Roboto"/>
                <a:sym typeface="Roboto"/>
              </a:rPr>
              <a:t>min_samples=98 </a:t>
            </a:r>
            <a:r>
              <a:rPr lang="en" sz="1100">
                <a:solidFill>
                  <a:srgbClr val="1F1F1F"/>
                </a:solidFill>
                <a:latin typeface="Roboto"/>
                <a:ea typeface="Roboto"/>
                <a:cs typeface="Roboto"/>
                <a:sym typeface="Roboto"/>
              </a:rPr>
              <a:t>(documents need a relatively dense neighborhood to be included in a stable cluster)</a:t>
            </a:r>
            <a:endParaRPr sz="1100">
              <a:solidFill>
                <a:srgbClr val="1F1F1F"/>
              </a:solidFill>
              <a:latin typeface="Roboto"/>
              <a:ea typeface="Roboto"/>
              <a:cs typeface="Roboto"/>
              <a:sym typeface="Roboto"/>
            </a:endParaRPr>
          </a:p>
          <a:p>
            <a:pPr indent="-298450" lvl="0" marL="457200" rtl="0" algn="l">
              <a:lnSpc>
                <a:spcPct val="115000"/>
              </a:lnSpc>
              <a:spcBef>
                <a:spcPts val="0"/>
              </a:spcBef>
              <a:spcAft>
                <a:spcPts val="0"/>
              </a:spcAft>
              <a:buClr>
                <a:srgbClr val="1F1F1F"/>
              </a:buClr>
              <a:buSzPts val="1100"/>
              <a:buFont typeface="Roboto"/>
              <a:buChar char="●"/>
            </a:pPr>
            <a:r>
              <a:rPr lang="en" sz="1100">
                <a:latin typeface="Roboto"/>
                <a:ea typeface="Roboto"/>
                <a:cs typeface="Roboto"/>
                <a:sym typeface="Roboto"/>
              </a:rPr>
              <a:t>Convert words into TF-IDF matrix </a:t>
            </a:r>
            <a:endParaRPr sz="1100">
              <a:solidFill>
                <a:srgbClr val="1F1F1F"/>
              </a:solidFill>
              <a:latin typeface="Roboto"/>
              <a:ea typeface="Roboto"/>
              <a:cs typeface="Roboto"/>
              <a:sym typeface="Roboto"/>
            </a:endParaRPr>
          </a:p>
          <a:p>
            <a:pPr indent="-298450" lvl="1" marL="914400" rtl="0" algn="l">
              <a:lnSpc>
                <a:spcPct val="115000"/>
              </a:lnSpc>
              <a:spcBef>
                <a:spcPts val="0"/>
              </a:spcBef>
              <a:spcAft>
                <a:spcPts val="0"/>
              </a:spcAft>
              <a:buSzPts val="1100"/>
              <a:buFont typeface="Roboto"/>
              <a:buChar char="○"/>
            </a:pPr>
            <a:r>
              <a:rPr lang="en" sz="1100">
                <a:latin typeface="Roboto"/>
                <a:ea typeface="Roboto"/>
                <a:cs typeface="Roboto"/>
                <a:sym typeface="Roboto"/>
              </a:rPr>
              <a:t>Include unigram and bigram phrases</a:t>
            </a:r>
            <a:endParaRPr sz="1100">
              <a:latin typeface="Roboto"/>
              <a:ea typeface="Roboto"/>
              <a:cs typeface="Roboto"/>
              <a:sym typeface="Roboto"/>
            </a:endParaRPr>
          </a:p>
          <a:p>
            <a:pPr indent="-298450" lvl="1" marL="914400" rtl="0" algn="l">
              <a:lnSpc>
                <a:spcPct val="115000"/>
              </a:lnSpc>
              <a:spcBef>
                <a:spcPts val="0"/>
              </a:spcBef>
              <a:spcAft>
                <a:spcPts val="0"/>
              </a:spcAft>
              <a:buSzPts val="1100"/>
              <a:buFont typeface="Roboto"/>
              <a:buChar char="○"/>
            </a:pPr>
            <a:r>
              <a:rPr lang="en" sz="1100">
                <a:latin typeface="Roboto"/>
                <a:ea typeface="Roboto"/>
                <a:cs typeface="Roboto"/>
                <a:sym typeface="Roboto"/>
              </a:rPr>
              <a:t>Limit vocab to top 30000 words</a:t>
            </a:r>
            <a:endParaRPr sz="1100">
              <a:latin typeface="Roboto"/>
              <a:ea typeface="Roboto"/>
              <a:cs typeface="Roboto"/>
              <a:sym typeface="Roboto"/>
            </a:endParaRPr>
          </a:p>
          <a:p>
            <a:pPr indent="-298450" lvl="0" marL="457200" marR="0" rtl="0" algn="l">
              <a:lnSpc>
                <a:spcPct val="115000"/>
              </a:lnSpc>
              <a:spcBef>
                <a:spcPts val="0"/>
              </a:spcBef>
              <a:spcAft>
                <a:spcPts val="0"/>
              </a:spcAft>
              <a:buClr>
                <a:srgbClr val="1F1F1F"/>
              </a:buClr>
              <a:buSzPts val="1100"/>
              <a:buChar char="●"/>
            </a:pPr>
            <a:r>
              <a:rPr lang="en" sz="1100">
                <a:solidFill>
                  <a:srgbClr val="1F1F1F"/>
                </a:solidFill>
                <a:latin typeface="Roboto"/>
                <a:ea typeface="Roboto"/>
                <a:cs typeface="Roboto"/>
                <a:sym typeface="Roboto"/>
              </a:rPr>
              <a:t>Applied a </a:t>
            </a:r>
            <a:r>
              <a:rPr lang="en" sz="1100">
                <a:solidFill>
                  <a:srgbClr val="1F1F1F"/>
                </a:solidFill>
                <a:latin typeface="Roboto"/>
                <a:ea typeface="Roboto"/>
                <a:cs typeface="Roboto"/>
                <a:sym typeface="Roboto"/>
              </a:rPr>
              <a:t>ClassTfidfTransformer </a:t>
            </a:r>
            <a:r>
              <a:rPr lang="en" sz="1100">
                <a:solidFill>
                  <a:srgbClr val="1F1F1F"/>
                </a:solidFill>
                <a:latin typeface="Roboto"/>
                <a:ea typeface="Roboto"/>
                <a:cs typeface="Roboto"/>
                <a:sym typeface="Roboto"/>
              </a:rPr>
              <a:t>so each topic could be summarized by the most distinctive terms in that cluster</a:t>
            </a:r>
            <a:endParaRPr sz="1100">
              <a:solidFill>
                <a:srgbClr val="1F1F1F"/>
              </a:solidFill>
              <a:latin typeface="Roboto"/>
              <a:ea typeface="Roboto"/>
              <a:cs typeface="Roboto"/>
              <a:sym typeface="Roboto"/>
            </a:endParaRPr>
          </a:p>
          <a:p>
            <a:pPr indent="-298450" lvl="0" marL="457200" marR="0" rtl="0" algn="l">
              <a:lnSpc>
                <a:spcPct val="115000"/>
              </a:lnSpc>
              <a:spcBef>
                <a:spcPts val="0"/>
              </a:spcBef>
              <a:spcAft>
                <a:spcPts val="0"/>
              </a:spcAft>
              <a:buClr>
                <a:srgbClr val="1F1F1F"/>
              </a:buClr>
              <a:buSzPts val="1100"/>
              <a:buFont typeface="Roboto"/>
              <a:buChar char="●"/>
            </a:pPr>
            <a:r>
              <a:rPr lang="en" sz="1100">
                <a:solidFill>
                  <a:srgbClr val="1F1F1F"/>
                </a:solidFill>
                <a:latin typeface="Roboto"/>
                <a:ea typeface="Roboto"/>
                <a:cs typeface="Roboto"/>
                <a:sym typeface="Roboto"/>
              </a:rPr>
              <a:t>Produced 18 clusters</a:t>
            </a:r>
            <a:endParaRPr sz="1100">
              <a:solidFill>
                <a:srgbClr val="1F1F1F"/>
              </a:solidFill>
              <a:latin typeface="Roboto"/>
              <a:ea typeface="Roboto"/>
              <a:cs typeface="Roboto"/>
              <a:sym typeface="Roboto"/>
            </a:endParaRPr>
          </a:p>
        </p:txBody>
      </p:sp>
      <p:graphicFrame>
        <p:nvGraphicFramePr>
          <p:cNvPr id="165" name="Google Shape;165;p26"/>
          <p:cNvGraphicFramePr/>
          <p:nvPr/>
        </p:nvGraphicFramePr>
        <p:xfrm>
          <a:off x="5422050" y="702300"/>
          <a:ext cx="3000000" cy="3000000"/>
        </p:xfrm>
        <a:graphic>
          <a:graphicData uri="http://schemas.openxmlformats.org/drawingml/2006/table">
            <a:tbl>
              <a:tblPr>
                <a:noFill/>
                <a:tableStyleId>{AECBC6A3-EEB5-4E53-B1B5-FC37A78BE2B4}</a:tableStyleId>
              </a:tblPr>
              <a:tblGrid>
                <a:gridCol w="639500"/>
                <a:gridCol w="3082450"/>
              </a:tblGrid>
              <a:tr h="231225">
                <a:tc>
                  <a:txBody>
                    <a:bodyPr/>
                    <a:lstStyle/>
                    <a:p>
                      <a:pPr indent="0" lvl="0" marL="0" rtl="0" algn="ctr">
                        <a:lnSpc>
                          <a:spcPct val="6000"/>
                        </a:lnSpc>
                        <a:spcBef>
                          <a:spcPts val="0"/>
                        </a:spcBef>
                        <a:spcAft>
                          <a:spcPts val="0"/>
                        </a:spcAft>
                        <a:buNone/>
                      </a:pPr>
                      <a:r>
                        <a:rPr b="1" lang="en" sz="1000">
                          <a:latin typeface="Roboto"/>
                          <a:ea typeface="Roboto"/>
                          <a:cs typeface="Roboto"/>
                          <a:sym typeface="Roboto"/>
                        </a:rPr>
                        <a:t>Topic</a:t>
                      </a:r>
                      <a:endParaRPr b="1"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1000">
                          <a:latin typeface="Roboto"/>
                          <a:ea typeface="Roboto"/>
                          <a:cs typeface="Roboto"/>
                          <a:sym typeface="Roboto"/>
                        </a:rPr>
                        <a:t>Industry Label</a:t>
                      </a:r>
                      <a:endParaRPr b="1"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Cross-Industry AI News / Outliers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0</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Enterprise Technology</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Consumer &amp; Public Services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Financial Services &amp; Business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Corporate AI Announcements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Enterprise Software &amp; Cybersecurity</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Healthcare &amp; Life Sciences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Financial Markets &amp; Investing</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Media, Journalism &amp; Public Policy</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265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Business Operations &amp; Enterprise Automation</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Workforce &amp; Compensation</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Cryptocurrency &amp; Digital Assets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Publishing &amp; Intellectual Property</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Public AI Companies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Technology Industry News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Music &amp; Entertainment</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African Technology Development</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225">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AI Market Commentary</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Topic Detection – </a:t>
            </a:r>
            <a:r>
              <a:rPr lang="en"/>
              <a:t>BERTopic Title</a:t>
            </a:r>
            <a:endParaRPr/>
          </a:p>
        </p:txBody>
      </p:sp>
      <p:sp>
        <p:nvSpPr>
          <p:cNvPr id="171" name="Google Shape;171;p27"/>
          <p:cNvSpPr txBox="1"/>
          <p:nvPr/>
        </p:nvSpPr>
        <p:spPr>
          <a:xfrm>
            <a:off x="253775" y="1406075"/>
            <a:ext cx="4386300" cy="2605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Applied the same preprocessing, embedding model, dimensionality reduction, and TF-IDF topic representation process as the text version</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Applied UMAP parameters</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n_neighbors=100</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min_dist=0.1</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HDBSCAN parameters</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min_cluster_size=500</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min_samples=50</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Produced 5 clusters</a:t>
            </a:r>
            <a:endParaRPr sz="1200">
              <a:solidFill>
                <a:srgbClr val="1F1F1F"/>
              </a:solidFill>
              <a:latin typeface="Roboto"/>
              <a:ea typeface="Roboto"/>
              <a:cs typeface="Roboto"/>
              <a:sym typeface="Roboto"/>
            </a:endParaRPr>
          </a:p>
        </p:txBody>
      </p:sp>
      <p:graphicFrame>
        <p:nvGraphicFramePr>
          <p:cNvPr id="172" name="Google Shape;172;p27"/>
          <p:cNvGraphicFramePr/>
          <p:nvPr/>
        </p:nvGraphicFramePr>
        <p:xfrm>
          <a:off x="4717875" y="3326550"/>
          <a:ext cx="3000000" cy="3000000"/>
        </p:xfrm>
        <a:graphic>
          <a:graphicData uri="http://schemas.openxmlformats.org/drawingml/2006/table">
            <a:tbl>
              <a:tblPr>
                <a:noFill/>
                <a:tableStyleId>{AECBC6A3-EEB5-4E53-B1B5-FC37A78BE2B4}</a:tableStyleId>
              </a:tblPr>
              <a:tblGrid>
                <a:gridCol w="557125"/>
                <a:gridCol w="3537700"/>
              </a:tblGrid>
              <a:tr h="305700">
                <a:tc>
                  <a:txBody>
                    <a:bodyPr/>
                    <a:lstStyle/>
                    <a:p>
                      <a:pPr indent="0" lvl="0" marL="0" rtl="0" algn="ctr">
                        <a:lnSpc>
                          <a:spcPct val="6000"/>
                        </a:lnSpc>
                        <a:spcBef>
                          <a:spcPts val="0"/>
                        </a:spcBef>
                        <a:spcAft>
                          <a:spcPts val="0"/>
                        </a:spcAft>
                        <a:buNone/>
                      </a:pPr>
                      <a:r>
                        <a:rPr b="1" lang="en" sz="1200">
                          <a:latin typeface="Roboto"/>
                          <a:ea typeface="Roboto"/>
                          <a:cs typeface="Roboto"/>
                          <a:sym typeface="Roboto"/>
                        </a:rPr>
                        <a:t>Topic</a:t>
                      </a:r>
                      <a:endParaRPr b="1"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1200">
                          <a:latin typeface="Roboto"/>
                          <a:ea typeface="Roboto"/>
                          <a:cs typeface="Roboto"/>
                          <a:sym typeface="Roboto"/>
                        </a:rPr>
                        <a:t>Industry Label</a:t>
                      </a:r>
                      <a:endParaRPr b="1"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275">
                <a:tc>
                  <a:txBody>
                    <a:bodyPr/>
                    <a:lstStyle/>
                    <a:p>
                      <a:pPr indent="0" lvl="0" marL="0" rtl="0" algn="ctr">
                        <a:lnSpc>
                          <a:spcPct val="6000"/>
                        </a:lnSpc>
                        <a:spcBef>
                          <a:spcPts val="0"/>
                        </a:spcBef>
                        <a:spcAft>
                          <a:spcPts val="0"/>
                        </a:spcAft>
                        <a:buNone/>
                      </a:pPr>
                      <a:r>
                        <a:rPr lang="en" sz="1200">
                          <a:latin typeface="Roboto"/>
                          <a:ea typeface="Roboto"/>
                          <a:cs typeface="Roboto"/>
                          <a:sym typeface="Roboto"/>
                        </a:rPr>
                        <a:t>-1</a:t>
                      </a:r>
                      <a:endParaRPr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200">
                          <a:latin typeface="Roboto"/>
                          <a:ea typeface="Roboto"/>
                          <a:cs typeface="Roboto"/>
                          <a:sym typeface="Roboto"/>
                        </a:rPr>
                        <a:t>Cross-Industry AI News / Outliers</a:t>
                      </a:r>
                      <a:endParaRPr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275">
                <a:tc>
                  <a:txBody>
                    <a:bodyPr/>
                    <a:lstStyle/>
                    <a:p>
                      <a:pPr indent="0" lvl="0" marL="0" rtl="0" algn="ctr">
                        <a:lnSpc>
                          <a:spcPct val="6000"/>
                        </a:lnSpc>
                        <a:spcBef>
                          <a:spcPts val="0"/>
                        </a:spcBef>
                        <a:spcAft>
                          <a:spcPts val="0"/>
                        </a:spcAft>
                        <a:buNone/>
                      </a:pPr>
                      <a:r>
                        <a:rPr lang="en" sz="1200">
                          <a:latin typeface="Roboto"/>
                          <a:ea typeface="Roboto"/>
                          <a:cs typeface="Roboto"/>
                          <a:sym typeface="Roboto"/>
                        </a:rPr>
                        <a:t>0</a:t>
                      </a:r>
                      <a:endParaRPr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200">
                          <a:latin typeface="Roboto"/>
                          <a:ea typeface="Roboto"/>
                          <a:cs typeface="Roboto"/>
                          <a:sym typeface="Roboto"/>
                        </a:rPr>
                        <a:t>Technology Industry &amp; AI Development</a:t>
                      </a:r>
                      <a:endParaRPr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275">
                <a:tc>
                  <a:txBody>
                    <a:bodyPr/>
                    <a:lstStyle/>
                    <a:p>
                      <a:pPr indent="0" lvl="0" marL="0" rtl="0" algn="ctr">
                        <a:lnSpc>
                          <a:spcPct val="6000"/>
                        </a:lnSpc>
                        <a:spcBef>
                          <a:spcPts val="0"/>
                        </a:spcBef>
                        <a:spcAft>
                          <a:spcPts val="0"/>
                        </a:spcAft>
                        <a:buNone/>
                      </a:pPr>
                      <a:r>
                        <a:rPr lang="en" sz="1200">
                          <a:latin typeface="Roboto"/>
                          <a:ea typeface="Roboto"/>
                          <a:cs typeface="Roboto"/>
                          <a:sym typeface="Roboto"/>
                        </a:rPr>
                        <a:t>1</a:t>
                      </a:r>
                      <a:endParaRPr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200">
                          <a:latin typeface="Roboto"/>
                          <a:ea typeface="Roboto"/>
                          <a:cs typeface="Roboto"/>
                          <a:sym typeface="Roboto"/>
                        </a:rPr>
                        <a:t>Workforce &amp; Data Science Careers</a:t>
                      </a:r>
                      <a:endParaRPr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275">
                <a:tc>
                  <a:txBody>
                    <a:bodyPr/>
                    <a:lstStyle/>
                    <a:p>
                      <a:pPr indent="0" lvl="0" marL="0" rtl="0" algn="ctr">
                        <a:lnSpc>
                          <a:spcPct val="6000"/>
                        </a:lnSpc>
                        <a:spcBef>
                          <a:spcPts val="0"/>
                        </a:spcBef>
                        <a:spcAft>
                          <a:spcPts val="0"/>
                        </a:spcAft>
                        <a:buNone/>
                      </a:pPr>
                      <a:r>
                        <a:rPr lang="en" sz="1200">
                          <a:latin typeface="Roboto"/>
                          <a:ea typeface="Roboto"/>
                          <a:cs typeface="Roboto"/>
                          <a:sym typeface="Roboto"/>
                        </a:rPr>
                        <a:t>2</a:t>
                      </a:r>
                      <a:endParaRPr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200">
                          <a:latin typeface="Roboto"/>
                          <a:ea typeface="Roboto"/>
                          <a:cs typeface="Roboto"/>
                          <a:sym typeface="Roboto"/>
                        </a:rPr>
                        <a:t>Global / Multilingual AI News</a:t>
                      </a:r>
                      <a:endParaRPr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275">
                <a:tc>
                  <a:txBody>
                    <a:bodyPr/>
                    <a:lstStyle/>
                    <a:p>
                      <a:pPr indent="0" lvl="0" marL="0" rtl="0" algn="ctr">
                        <a:lnSpc>
                          <a:spcPct val="6000"/>
                        </a:lnSpc>
                        <a:spcBef>
                          <a:spcPts val="0"/>
                        </a:spcBef>
                        <a:spcAft>
                          <a:spcPts val="0"/>
                        </a:spcAft>
                        <a:buNone/>
                      </a:pPr>
                      <a:r>
                        <a:rPr lang="en" sz="1200">
                          <a:latin typeface="Roboto"/>
                          <a:ea typeface="Roboto"/>
                          <a:cs typeface="Roboto"/>
                          <a:sym typeface="Roboto"/>
                        </a:rPr>
                        <a:t>3</a:t>
                      </a:r>
                      <a:endParaRPr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200">
                          <a:latin typeface="Roboto"/>
                          <a:ea typeface="Roboto"/>
                          <a:cs typeface="Roboto"/>
                          <a:sym typeface="Roboto"/>
                        </a:rPr>
                        <a:t>Philanthropy &amp; Nonprofit Sector</a:t>
                      </a:r>
                      <a:endParaRPr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73" name="Google Shape;173;p27"/>
          <p:cNvSpPr txBox="1"/>
          <p:nvPr/>
        </p:nvSpPr>
        <p:spPr>
          <a:xfrm>
            <a:off x="4538550" y="756725"/>
            <a:ext cx="4386300" cy="25176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1F1F1F"/>
              </a:buClr>
              <a:buSzPts val="1200"/>
              <a:buFont typeface="Roboto"/>
              <a:buChar char="●"/>
            </a:pPr>
            <a:r>
              <a:rPr lang="en" sz="1200">
                <a:latin typeface="Roboto"/>
                <a:ea typeface="Roboto"/>
                <a:cs typeface="Roboto"/>
                <a:sym typeface="Roboto"/>
              </a:rPr>
              <a:t>BERTopic performed best producing clear topics that separate AI news by industries such as healthcare, finance, enterprise software, and consumer technology since it uses semantic embeddings that capture contextual</a:t>
            </a:r>
            <a:r>
              <a:rPr lang="en" sz="1200">
                <a:latin typeface="Roboto"/>
                <a:ea typeface="Roboto"/>
                <a:cs typeface="Roboto"/>
                <a:sym typeface="Roboto"/>
              </a:rPr>
              <a:t> meaning</a:t>
            </a:r>
            <a:endParaRPr sz="1200">
              <a:latin typeface="Roboto"/>
              <a:ea typeface="Roboto"/>
              <a:cs typeface="Roboto"/>
              <a:sym typeface="Roboto"/>
            </a:endParaRPr>
          </a:p>
          <a:p>
            <a:pPr indent="-304800" lvl="0" marL="457200" rtl="0" algn="l">
              <a:lnSpc>
                <a:spcPct val="115000"/>
              </a:lnSpc>
              <a:spcBef>
                <a:spcPts val="0"/>
              </a:spcBef>
              <a:spcAft>
                <a:spcPts val="0"/>
              </a:spcAft>
              <a:buClr>
                <a:srgbClr val="1F1F1F"/>
              </a:buClr>
              <a:buSzPts val="1200"/>
              <a:buFont typeface="Roboto"/>
              <a:buChar char="●"/>
            </a:pPr>
            <a:r>
              <a:rPr lang="en" sz="1200">
                <a:latin typeface="Roboto"/>
                <a:ea typeface="Roboto"/>
                <a:cs typeface="Roboto"/>
                <a:sym typeface="Roboto"/>
              </a:rPr>
              <a:t>BERTopic on titles performed worse than on text, resulting in topics that were less detailed, because titles contain less contextual information</a:t>
            </a:r>
            <a:endParaRPr sz="1200">
              <a:latin typeface="Roboto"/>
              <a:ea typeface="Roboto"/>
              <a:cs typeface="Roboto"/>
              <a:sym typeface="Roboto"/>
            </a:endParaRPr>
          </a:p>
          <a:p>
            <a:pPr indent="-304800" lvl="0" marL="457200" rtl="0" algn="l">
              <a:lnSpc>
                <a:spcPct val="115000"/>
              </a:lnSpc>
              <a:spcBef>
                <a:spcPts val="0"/>
              </a:spcBef>
              <a:spcAft>
                <a:spcPts val="0"/>
              </a:spcAft>
              <a:buClr>
                <a:srgbClr val="FF0000"/>
              </a:buClr>
              <a:buSzPts val="1200"/>
              <a:buFont typeface="Roboto"/>
              <a:buChar char="●"/>
            </a:pPr>
            <a:r>
              <a:rPr b="1" lang="en" sz="1200">
                <a:solidFill>
                  <a:srgbClr val="FF0000"/>
                </a:solidFill>
                <a:latin typeface="Roboto"/>
                <a:ea typeface="Roboto"/>
                <a:cs typeface="Roboto"/>
                <a:sym typeface="Roboto"/>
              </a:rPr>
              <a:t>*BERTopic text was chosen as the best topic detection model since it produced the clearest and most distinct industry-based topics*</a:t>
            </a:r>
            <a:endParaRPr b="1" sz="1200">
              <a:solidFill>
                <a:srgbClr val="FF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Topic Detection — BERTopic on Text Selected as Best</a:t>
            </a:r>
            <a:endParaRPr/>
          </a:p>
        </p:txBody>
      </p:sp>
      <p:sp>
        <p:nvSpPr>
          <p:cNvPr id="179" name="Google Shape;179;p28"/>
          <p:cNvSpPr txBox="1"/>
          <p:nvPr/>
        </p:nvSpPr>
        <p:spPr>
          <a:xfrm>
            <a:off x="-2582000" y="6102375"/>
            <a:ext cx="3828300" cy="145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Roboto"/>
                <a:ea typeface="Roboto"/>
                <a:cs typeface="Roboto"/>
                <a:sym typeface="Roboto"/>
              </a:rPr>
              <a:t>Comment on topics and validityu and maybe put some down</a:t>
            </a:r>
            <a:endParaRPr sz="1800">
              <a:solidFill>
                <a:schemeClr val="lt2"/>
              </a:solidFill>
              <a:latin typeface="Roboto"/>
              <a:ea typeface="Roboto"/>
              <a:cs typeface="Roboto"/>
              <a:sym typeface="Roboto"/>
            </a:endParaRPr>
          </a:p>
        </p:txBody>
      </p:sp>
      <p:graphicFrame>
        <p:nvGraphicFramePr>
          <p:cNvPr id="180" name="Google Shape;180;p28"/>
          <p:cNvGraphicFramePr/>
          <p:nvPr/>
        </p:nvGraphicFramePr>
        <p:xfrm>
          <a:off x="0" y="662875"/>
          <a:ext cx="3000000" cy="3000000"/>
        </p:xfrm>
        <a:graphic>
          <a:graphicData uri="http://schemas.openxmlformats.org/drawingml/2006/table">
            <a:tbl>
              <a:tblPr>
                <a:noFill/>
                <a:tableStyleId>{AECBC6A3-EEB5-4E53-B1B5-FC37A78BE2B4}</a:tableStyleId>
              </a:tblPr>
              <a:tblGrid>
                <a:gridCol w="2019100"/>
                <a:gridCol w="3720675"/>
              </a:tblGrid>
              <a:tr h="230075">
                <a:tc>
                  <a:txBody>
                    <a:bodyPr/>
                    <a:lstStyle/>
                    <a:p>
                      <a:pPr indent="0" lvl="0" marL="0" rtl="0" algn="ctr">
                        <a:lnSpc>
                          <a:spcPct val="6000"/>
                        </a:lnSpc>
                        <a:spcBef>
                          <a:spcPts val="0"/>
                        </a:spcBef>
                        <a:spcAft>
                          <a:spcPts val="0"/>
                        </a:spcAft>
                        <a:buNone/>
                      </a:pPr>
                      <a:r>
                        <a:rPr b="1" lang="en" sz="700">
                          <a:latin typeface="Roboto"/>
                          <a:ea typeface="Roboto"/>
                          <a:cs typeface="Roboto"/>
                          <a:sym typeface="Roboto"/>
                        </a:rPr>
                        <a:t>Topic Labels</a:t>
                      </a:r>
                      <a:endParaRPr b="1"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700">
                          <a:latin typeface="Roboto"/>
                          <a:ea typeface="Roboto"/>
                          <a:cs typeface="Roboto"/>
                          <a:sym typeface="Roboto"/>
                        </a:rPr>
                        <a:t>Top Words</a:t>
                      </a:r>
                      <a:endParaRPr b="1"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solidFill>
                            <a:srgbClr val="CC0000"/>
                          </a:solidFill>
                          <a:latin typeface="Roboto"/>
                          <a:ea typeface="Roboto"/>
                          <a:cs typeface="Roboto"/>
                          <a:sym typeface="Roboto"/>
                        </a:rPr>
                        <a:t>Cross-Industry AI News / Outliers</a:t>
                      </a:r>
                      <a:endParaRPr sz="700">
                        <a:solidFill>
                          <a:srgbClr val="CC0000"/>
                        </a:solidFill>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ai, news, new, data, share,  technology, use, intelligence, video</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solidFill>
                            <a:srgbClr val="CC0000"/>
                          </a:solidFill>
                          <a:latin typeface="Roboto"/>
                          <a:ea typeface="Roboto"/>
                          <a:cs typeface="Roboto"/>
                          <a:sym typeface="Roboto"/>
                        </a:rPr>
                        <a:t>Enterprise Technology</a:t>
                      </a:r>
                      <a:endParaRPr sz="700">
                        <a:solidFill>
                          <a:srgbClr val="CC0000"/>
                        </a:solidFill>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ai, news, new, data, technology, google, intelligence, chatgpt</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latin typeface="Roboto"/>
                          <a:ea typeface="Roboto"/>
                          <a:cs typeface="Roboto"/>
                          <a:sym typeface="Roboto"/>
                        </a:rPr>
                        <a:t>Consumer &amp; Public Services</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ago, news, hours ago, hours, video, stories, said, local, file, ai</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solidFill>
                            <a:srgbClr val="CC0000"/>
                          </a:solidFill>
                          <a:latin typeface="Roboto"/>
                          <a:ea typeface="Roboto"/>
                          <a:cs typeface="Roboto"/>
                          <a:sym typeface="Roboto"/>
                        </a:rPr>
                        <a:t>Financial Services &amp; Business</a:t>
                      </a:r>
                      <a:endParaRPr sz="700">
                        <a:solidFill>
                          <a:srgbClr val="CC0000"/>
                        </a:solidFill>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share, ai, market, india, stock, bank, new, news, company</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solidFill>
                            <a:srgbClr val="CC0000"/>
                          </a:solidFill>
                          <a:latin typeface="Roboto"/>
                          <a:ea typeface="Roboto"/>
                          <a:cs typeface="Roboto"/>
                          <a:sym typeface="Roboto"/>
                        </a:rPr>
                        <a:t>Corporate AI Announcements</a:t>
                      </a:r>
                      <a:endParaRPr sz="700">
                        <a:solidFill>
                          <a:srgbClr val="CC0000"/>
                        </a:solidFill>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newswires, presswire, ein presswire, ein, releases, south, new, north, distribution, ai</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latin typeface="Roboto"/>
                          <a:ea typeface="Roboto"/>
                          <a:cs typeface="Roboto"/>
                          <a:sym typeface="Roboto"/>
                        </a:rPr>
                        <a:t>Enterprise Software &amp; Cybersecurity</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products, services, overview, consumer, entertain, technology, policy</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solidFill>
                            <a:srgbClr val="6AA84F"/>
                          </a:solidFill>
                          <a:latin typeface="Roboto"/>
                          <a:ea typeface="Roboto"/>
                          <a:cs typeface="Roboto"/>
                          <a:sym typeface="Roboto"/>
                        </a:rPr>
                        <a:t>Healthcare &amp; Life Sciences</a:t>
                      </a:r>
                      <a:endParaRPr sz="700">
                        <a:solidFill>
                          <a:srgbClr val="6AA84F"/>
                        </a:solidFill>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health, ai, healthcare, medical, patients, patient, news, care, cancer, research</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latin typeface="Roboto"/>
                          <a:ea typeface="Roboto"/>
                          <a:cs typeface="Roboto"/>
                          <a:sym typeface="Roboto"/>
                        </a:rPr>
                        <a:t>Financial Markets &amp; Investing</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share price, price, nasdaq, share, symbols, markets, market, stocks, add, stock</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solidFill>
                            <a:srgbClr val="6AA84F"/>
                          </a:solidFill>
                          <a:latin typeface="Roboto"/>
                          <a:ea typeface="Roboto"/>
                          <a:cs typeface="Roboto"/>
                          <a:sym typeface="Roboto"/>
                        </a:rPr>
                        <a:t>Media, Journalism &amp; Public Policy</a:t>
                      </a:r>
                      <a:endParaRPr sz="700">
                        <a:solidFill>
                          <a:srgbClr val="6AA84F"/>
                        </a:solidFill>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npr, radio, public, news, schedule, donate, music, programs, community, arts</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latin typeface="Roboto"/>
                          <a:ea typeface="Roboto"/>
                          <a:cs typeface="Roboto"/>
                          <a:sym typeface="Roboto"/>
                        </a:rPr>
                        <a:t>Business Operations &amp; Enterprise Automation</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gray, ai, gray media, prnewswire, media group, group, media, press release, data, release</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latin typeface="Roboto"/>
                          <a:ea typeface="Roboto"/>
                          <a:cs typeface="Roboto"/>
                          <a:sym typeface="Roboto"/>
                        </a:rPr>
                        <a:t>Workforce &amp; Compensation</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salary, compensation, data scientist, scientist, data, total, salaries, pay </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solidFill>
                            <a:srgbClr val="6AA84F"/>
                          </a:solidFill>
                          <a:latin typeface="Roboto"/>
                          <a:ea typeface="Roboto"/>
                          <a:cs typeface="Roboto"/>
                          <a:sym typeface="Roboto"/>
                        </a:rPr>
                        <a:t>Cryptocurrency &amp; Digital Assets</a:t>
                      </a:r>
                      <a:endParaRPr sz="700">
                        <a:solidFill>
                          <a:srgbClr val="6AA84F"/>
                        </a:solidFill>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price, ai, mexc, market, prediction, trading, price prediction, traded, usd, btc</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latin typeface="Roboto"/>
                          <a:ea typeface="Roboto"/>
                          <a:cs typeface="Roboto"/>
                          <a:sym typeface="Roboto"/>
                        </a:rPr>
                        <a:t>Publishing &amp; Intellectual Property</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new window, window, opens new, opens, new, whio, said, cox, ai, feed opens</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latin typeface="Roboto"/>
                          <a:ea typeface="Roboto"/>
                          <a:cs typeface="Roboto"/>
                          <a:sym typeface="Roboto"/>
                        </a:rPr>
                        <a:t>Public AI Companies</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shares, stock, nyse, nasdaq, llc, etf, price, company, soundhound, ai</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latin typeface="Roboto"/>
                          <a:ea typeface="Roboto"/>
                          <a:cs typeface="Roboto"/>
                          <a:sym typeface="Roboto"/>
                        </a:rPr>
                        <a:t>Technology Industry News</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webpronews, ai, advertise, like, ientry, request, advertising, tech, marketing, cmspro</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solidFill>
                            <a:srgbClr val="6AA84F"/>
                          </a:solidFill>
                          <a:latin typeface="Roboto"/>
                          <a:ea typeface="Roboto"/>
                          <a:cs typeface="Roboto"/>
                          <a:sym typeface="Roboto"/>
                        </a:rPr>
                        <a:t>Music &amp; Entertainment</a:t>
                      </a:r>
                      <a:endParaRPr sz="700">
                        <a:solidFill>
                          <a:srgbClr val="6AA84F"/>
                        </a:solidFill>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music, ai, song, spotify, voice, new, news, artists, ai music, songs</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575">
                <a:tc>
                  <a:txBody>
                    <a:bodyPr/>
                    <a:lstStyle/>
                    <a:p>
                      <a:pPr indent="0" lvl="0" marL="0" rtl="0" algn="l">
                        <a:lnSpc>
                          <a:spcPct val="6000"/>
                        </a:lnSpc>
                        <a:spcBef>
                          <a:spcPts val="0"/>
                        </a:spcBef>
                        <a:spcAft>
                          <a:spcPts val="0"/>
                        </a:spcAft>
                        <a:buNone/>
                      </a:pPr>
                      <a:r>
                        <a:t/>
                      </a:r>
                      <a:endParaRPr sz="700">
                        <a:solidFill>
                          <a:srgbClr val="674EA7"/>
                        </a:solidFill>
                        <a:latin typeface="Roboto"/>
                        <a:ea typeface="Roboto"/>
                        <a:cs typeface="Roboto"/>
                        <a:sym typeface="Roboto"/>
                      </a:endParaRPr>
                    </a:p>
                    <a:p>
                      <a:pPr indent="0" lvl="0" marL="0" rtl="0" algn="l">
                        <a:lnSpc>
                          <a:spcPct val="6000"/>
                        </a:lnSpc>
                        <a:spcBef>
                          <a:spcPts val="0"/>
                        </a:spcBef>
                        <a:spcAft>
                          <a:spcPts val="0"/>
                        </a:spcAft>
                        <a:buNone/>
                      </a:pPr>
                      <a:r>
                        <a:rPr lang="en" sz="700">
                          <a:solidFill>
                            <a:srgbClr val="674EA7"/>
                          </a:solidFill>
                          <a:latin typeface="Roboto"/>
                          <a:ea typeface="Roboto"/>
                          <a:cs typeface="Roboto"/>
                          <a:sym typeface="Roboto"/>
                        </a:rPr>
                        <a:t>African Technology Development</a:t>
                      </a:r>
                      <a:endParaRPr sz="700">
                        <a:solidFill>
                          <a:srgbClr val="674EA7"/>
                        </a:solidFill>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africa, ai, nigeria, ago, news, african, ghana, premium, ago</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0075">
                <a:tc>
                  <a:txBody>
                    <a:bodyPr/>
                    <a:lstStyle/>
                    <a:p>
                      <a:pPr indent="0" lvl="0" marL="0" rtl="0" algn="l">
                        <a:lnSpc>
                          <a:spcPct val="6000"/>
                        </a:lnSpc>
                        <a:spcBef>
                          <a:spcPts val="0"/>
                        </a:spcBef>
                        <a:spcAft>
                          <a:spcPts val="0"/>
                        </a:spcAft>
                        <a:buNone/>
                      </a:pPr>
                      <a:r>
                        <a:rPr lang="en" sz="700">
                          <a:solidFill>
                            <a:srgbClr val="CC0000"/>
                          </a:solidFill>
                          <a:latin typeface="Roboto"/>
                          <a:ea typeface="Roboto"/>
                          <a:cs typeface="Roboto"/>
                          <a:sym typeface="Roboto"/>
                        </a:rPr>
                        <a:t>AI Market Commentary</a:t>
                      </a:r>
                      <a:endParaRPr sz="700">
                        <a:solidFill>
                          <a:srgbClr val="CC0000"/>
                        </a:solidFill>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6000"/>
                        </a:lnSpc>
                        <a:spcBef>
                          <a:spcPts val="0"/>
                        </a:spcBef>
                        <a:spcAft>
                          <a:spcPts val="0"/>
                        </a:spcAft>
                        <a:buNone/>
                      </a:pPr>
                      <a:r>
                        <a:rPr lang="en" sz="700">
                          <a:latin typeface="Roboto"/>
                          <a:ea typeface="Roboto"/>
                          <a:cs typeface="Roboto"/>
                          <a:sym typeface="Roboto"/>
                        </a:rPr>
                        <a:t>nasdaq, add, symbols, quotes, market, available, markets, currently, data, edit</a:t>
                      </a:r>
                      <a:endParaRPr sz="7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81" name="Google Shape;181;p28"/>
          <p:cNvSpPr txBox="1"/>
          <p:nvPr/>
        </p:nvSpPr>
        <p:spPr>
          <a:xfrm>
            <a:off x="5596000" y="662875"/>
            <a:ext cx="3547800" cy="44805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SzPts val="1000"/>
              <a:buFont typeface="Roboto"/>
              <a:buChar char="●"/>
            </a:pPr>
            <a:r>
              <a:rPr lang="en" sz="1000">
                <a:latin typeface="Roboto"/>
                <a:ea typeface="Roboto"/>
                <a:cs typeface="Roboto"/>
                <a:sym typeface="Roboto"/>
              </a:rPr>
              <a:t>BERTopic on text performed best because it incorporates semantic embeddings, producing clearer topics that are better separated by industry</a:t>
            </a:r>
            <a:endParaRPr sz="1000">
              <a:latin typeface="Roboto"/>
              <a:ea typeface="Roboto"/>
              <a:cs typeface="Roboto"/>
              <a:sym typeface="Roboto"/>
            </a:endParaRPr>
          </a:p>
          <a:p>
            <a:pPr indent="-292100" lvl="0" marL="457200" rtl="0" algn="l">
              <a:lnSpc>
                <a:spcPct val="115000"/>
              </a:lnSpc>
              <a:spcBef>
                <a:spcPts val="0"/>
              </a:spcBef>
              <a:spcAft>
                <a:spcPts val="0"/>
              </a:spcAft>
              <a:buSzPts val="1000"/>
              <a:buChar char="●"/>
            </a:pPr>
            <a:r>
              <a:rPr lang="en" sz="1000">
                <a:latin typeface="Roboto"/>
                <a:ea typeface="Roboto"/>
                <a:cs typeface="Roboto"/>
                <a:sym typeface="Roboto"/>
              </a:rPr>
              <a:t>Some BERTopic clusters were still either too specific or too broad, which led to overlap between topics or clusters that were not very useful for clear industry separation</a:t>
            </a:r>
            <a:endParaRPr sz="1000">
              <a:latin typeface="Roboto"/>
              <a:ea typeface="Roboto"/>
              <a:cs typeface="Roboto"/>
              <a:sym typeface="Roboto"/>
            </a:endParaRPr>
          </a:p>
          <a:p>
            <a:pPr indent="-292100" lvl="0" marL="457200" rtl="0" algn="l">
              <a:lnSpc>
                <a:spcPct val="115000"/>
              </a:lnSpc>
              <a:spcBef>
                <a:spcPts val="0"/>
              </a:spcBef>
              <a:spcAft>
                <a:spcPts val="0"/>
              </a:spcAft>
              <a:buClr>
                <a:srgbClr val="CC0000"/>
              </a:buClr>
              <a:buSzPts val="1000"/>
              <a:buChar char="●"/>
            </a:pPr>
            <a:r>
              <a:rPr lang="en" sz="1000">
                <a:solidFill>
                  <a:srgbClr val="CC0000"/>
                </a:solidFill>
                <a:latin typeface="Roboto"/>
                <a:ea typeface="Roboto"/>
                <a:cs typeface="Roboto"/>
                <a:sym typeface="Roboto"/>
              </a:rPr>
              <a:t>Cross-Industry AI News / Outliers, Enterprise Technology, and Corporate AI Announcements were very similar, while AI Market Commentary and Financial Markets &amp; Investing were also closely related and could potentially even overlap with Financial Services &amp; Business</a:t>
            </a:r>
            <a:endParaRPr sz="1000">
              <a:solidFill>
                <a:srgbClr val="CC0000"/>
              </a:solidFill>
              <a:latin typeface="Roboto"/>
              <a:ea typeface="Roboto"/>
              <a:cs typeface="Roboto"/>
              <a:sym typeface="Roboto"/>
            </a:endParaRPr>
          </a:p>
          <a:p>
            <a:pPr indent="-292100" lvl="1" marL="914400" rtl="0" algn="l">
              <a:lnSpc>
                <a:spcPct val="115000"/>
              </a:lnSpc>
              <a:spcBef>
                <a:spcPts val="0"/>
              </a:spcBef>
              <a:spcAft>
                <a:spcPts val="0"/>
              </a:spcAft>
              <a:buSzPts val="1000"/>
              <a:buChar char="○"/>
            </a:pPr>
            <a:r>
              <a:rPr lang="en" sz="1000">
                <a:latin typeface="Roboto"/>
                <a:ea typeface="Roboto"/>
                <a:cs typeface="Roboto"/>
                <a:sym typeface="Roboto"/>
              </a:rPr>
              <a:t>These topics shared very similar top words and similar content articles</a:t>
            </a:r>
            <a:endParaRPr sz="1000">
              <a:latin typeface="Roboto"/>
              <a:ea typeface="Roboto"/>
              <a:cs typeface="Roboto"/>
              <a:sym typeface="Roboto"/>
            </a:endParaRPr>
          </a:p>
          <a:p>
            <a:pPr indent="-292100" lvl="0" marL="457200" rtl="0" algn="l">
              <a:lnSpc>
                <a:spcPct val="115000"/>
              </a:lnSpc>
              <a:spcBef>
                <a:spcPts val="0"/>
              </a:spcBef>
              <a:spcAft>
                <a:spcPts val="0"/>
              </a:spcAft>
              <a:buClr>
                <a:srgbClr val="6AA84F"/>
              </a:buClr>
              <a:buSzPts val="1000"/>
              <a:buChar char="●"/>
            </a:pPr>
            <a:r>
              <a:rPr lang="en" sz="1000">
                <a:solidFill>
                  <a:srgbClr val="6AA84F"/>
                </a:solidFill>
                <a:latin typeface="Roboto"/>
                <a:ea typeface="Roboto"/>
                <a:cs typeface="Roboto"/>
                <a:sym typeface="Roboto"/>
              </a:rPr>
              <a:t>Healthcare &amp; Life Sciences, Music &amp; Entertainment, Cryptocurrency &amp; Digital Assets, Media, Journalism &amp; Public Policy were the strongest examples of clear industry-specific topics, with distinct topic words that aligned well with their representative articles</a:t>
            </a:r>
            <a:endParaRPr sz="1000">
              <a:solidFill>
                <a:srgbClr val="6AA84F"/>
              </a:solidFill>
              <a:latin typeface="Roboto"/>
              <a:ea typeface="Roboto"/>
              <a:cs typeface="Roboto"/>
              <a:sym typeface="Roboto"/>
            </a:endParaRPr>
          </a:p>
          <a:p>
            <a:pPr indent="-292100" lvl="0" marL="457200" rtl="0" algn="l">
              <a:lnSpc>
                <a:spcPct val="115000"/>
              </a:lnSpc>
              <a:spcBef>
                <a:spcPts val="0"/>
              </a:spcBef>
              <a:spcAft>
                <a:spcPts val="0"/>
              </a:spcAft>
              <a:buClr>
                <a:srgbClr val="674EA7"/>
              </a:buClr>
              <a:buSzPts val="1000"/>
              <a:buChar char="●"/>
            </a:pPr>
            <a:r>
              <a:rPr lang="en" sz="1000">
                <a:solidFill>
                  <a:srgbClr val="674EA7"/>
                </a:solidFill>
                <a:latin typeface="Roboto"/>
                <a:ea typeface="Roboto"/>
                <a:cs typeface="Roboto"/>
                <a:sym typeface="Roboto"/>
              </a:rPr>
              <a:t>The African Technology Development topic was coherent but was more region-specific than industry-specific, focusing on geographic context rather than a particular sector </a:t>
            </a:r>
            <a:endParaRPr sz="1000">
              <a:solidFill>
                <a:srgbClr val="674EA7"/>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9"/>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Named Entity Recognition (NER)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NER – Process</a:t>
            </a:r>
            <a:endParaRPr/>
          </a:p>
        </p:txBody>
      </p:sp>
      <p:sp>
        <p:nvSpPr>
          <p:cNvPr id="192" name="Google Shape;192;p30"/>
          <p:cNvSpPr txBox="1"/>
          <p:nvPr/>
        </p:nvSpPr>
        <p:spPr>
          <a:xfrm>
            <a:off x="302950" y="1375175"/>
            <a:ext cx="8179200" cy="32865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Cleaned text</a:t>
            </a:r>
            <a:endParaRPr sz="1200">
              <a:solidFill>
                <a:srgbClr val="1F1F1F"/>
              </a:solidFill>
              <a:latin typeface="Roboto"/>
              <a:ea typeface="Roboto"/>
              <a:cs typeface="Roboto"/>
              <a:sym typeface="Roboto"/>
            </a:endParaRPr>
          </a:p>
          <a:p>
            <a:pPr indent="-304800" lvl="1" marL="9144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Removed boilerplate website text, timestamps, ticker fragments, separator junk</a:t>
            </a:r>
            <a:endParaRPr sz="1200">
              <a:solidFill>
                <a:srgbClr val="1F1F1F"/>
              </a:solidFill>
              <a:latin typeface="Roboto"/>
              <a:ea typeface="Roboto"/>
              <a:cs typeface="Roboto"/>
              <a:sym typeface="Roboto"/>
            </a:endParaRPr>
          </a:p>
          <a:p>
            <a:pPr indent="-304800" lvl="1" marL="914400" rtl="0" algn="l">
              <a:spcBef>
                <a:spcPts val="0"/>
              </a:spcBef>
              <a:spcAft>
                <a:spcPts val="0"/>
              </a:spcAft>
              <a:buClr>
                <a:srgbClr val="1F1F1F"/>
              </a:buClr>
              <a:buSzPts val="1200"/>
              <a:buFont typeface="Roboto"/>
              <a:buChar char="○"/>
            </a:pPr>
            <a:r>
              <a:rPr lang="en" sz="1200">
                <a:latin typeface="Roboto"/>
                <a:ea typeface="Roboto"/>
                <a:cs typeface="Roboto"/>
                <a:sym typeface="Roboto"/>
              </a:rPr>
              <a:t>Did not remove stopwords, </a:t>
            </a:r>
            <a:r>
              <a:rPr lang="en" sz="1200">
                <a:latin typeface="Roboto"/>
                <a:ea typeface="Roboto"/>
                <a:cs typeface="Roboto"/>
                <a:sym typeface="Roboto"/>
              </a:rPr>
              <a:t>apostrophes</a:t>
            </a:r>
            <a:r>
              <a:rPr lang="en" sz="1200">
                <a:latin typeface="Roboto"/>
                <a:ea typeface="Roboto"/>
                <a:cs typeface="Roboto"/>
                <a:sym typeface="Roboto"/>
              </a:rPr>
              <a:t>, or lowercase the main article text, since company NER works better with the original context and capitalization</a:t>
            </a:r>
            <a:endParaRPr sz="1200">
              <a:solidFill>
                <a:srgbClr val="1F1F1F"/>
              </a:solidFill>
              <a:latin typeface="Roboto"/>
              <a:ea typeface="Roboto"/>
              <a:cs typeface="Roboto"/>
              <a:sym typeface="Roboto"/>
            </a:endParaRPr>
          </a:p>
          <a:p>
            <a:pPr indent="-304800" lvl="1" marL="9144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Created lowercase text version for faster technology matching and extraction </a:t>
            </a:r>
            <a:endParaRPr sz="1200">
              <a:solidFill>
                <a:srgbClr val="1F1F1F"/>
              </a:solidFill>
              <a:latin typeface="Roboto"/>
              <a:ea typeface="Roboto"/>
              <a:cs typeface="Roboto"/>
              <a:sym typeface="Roboto"/>
            </a:endParaRPr>
          </a:p>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Technology extraction</a:t>
            </a:r>
            <a:endParaRPr sz="1200">
              <a:solidFill>
                <a:srgbClr val="1F1F1F"/>
              </a:solidFill>
              <a:latin typeface="Roboto"/>
              <a:ea typeface="Roboto"/>
              <a:cs typeface="Roboto"/>
              <a:sym typeface="Roboto"/>
            </a:endParaRPr>
          </a:p>
          <a:p>
            <a:pPr indent="-304800" lvl="1" marL="9144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Used a spaCy PhraseMatcher to detect exact technology phrases from a predefined list of AI- and technology-related terms (</a:t>
            </a:r>
            <a:r>
              <a:rPr i="1" lang="en" sz="1200">
                <a:solidFill>
                  <a:srgbClr val="1F1F1F"/>
                </a:solidFill>
                <a:latin typeface="Roboto"/>
                <a:ea typeface="Roboto"/>
                <a:cs typeface="Roboto"/>
                <a:sym typeface="Roboto"/>
              </a:rPr>
              <a:t>Generative AI assisted in creating this list</a:t>
            </a:r>
            <a:r>
              <a:rPr lang="en" sz="1200">
                <a:solidFill>
                  <a:srgbClr val="1F1F1F"/>
                </a:solidFill>
                <a:latin typeface="Roboto"/>
                <a:ea typeface="Roboto"/>
                <a:cs typeface="Roboto"/>
                <a:sym typeface="Roboto"/>
              </a:rPr>
              <a:t>)</a:t>
            </a:r>
            <a:endParaRPr sz="1200">
              <a:solidFill>
                <a:srgbClr val="1F1F1F"/>
              </a:solidFill>
              <a:latin typeface="Roboto"/>
              <a:ea typeface="Roboto"/>
              <a:cs typeface="Roboto"/>
              <a:sym typeface="Roboto"/>
            </a:endParaRPr>
          </a:p>
          <a:p>
            <a:pPr indent="-304800" lvl="1" marL="9144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Added regex-based aliases to capture abbreviations and variants such as </a:t>
            </a:r>
            <a:r>
              <a:rPr i="1" lang="en" sz="1200">
                <a:solidFill>
                  <a:srgbClr val="1F1F1F"/>
                </a:solidFill>
                <a:latin typeface="Roboto"/>
                <a:ea typeface="Roboto"/>
                <a:cs typeface="Roboto"/>
                <a:sym typeface="Roboto"/>
              </a:rPr>
              <a:t>LLM</a:t>
            </a:r>
            <a:r>
              <a:rPr lang="en" sz="1200">
                <a:solidFill>
                  <a:srgbClr val="1F1F1F"/>
                </a:solidFill>
                <a:latin typeface="Roboto"/>
                <a:ea typeface="Roboto"/>
                <a:cs typeface="Roboto"/>
                <a:sym typeface="Roboto"/>
              </a:rPr>
              <a:t>, </a:t>
            </a:r>
            <a:r>
              <a:rPr i="1" lang="en" sz="1200">
                <a:solidFill>
                  <a:srgbClr val="1F1F1F"/>
                </a:solidFill>
                <a:latin typeface="Roboto"/>
                <a:ea typeface="Roboto"/>
                <a:cs typeface="Roboto"/>
                <a:sym typeface="Roboto"/>
              </a:rPr>
              <a:t>RAG</a:t>
            </a:r>
            <a:r>
              <a:rPr lang="en" sz="1200">
                <a:solidFill>
                  <a:srgbClr val="1F1F1F"/>
                </a:solidFill>
                <a:latin typeface="Roboto"/>
                <a:ea typeface="Roboto"/>
                <a:cs typeface="Roboto"/>
                <a:sym typeface="Roboto"/>
              </a:rPr>
              <a:t>, and </a:t>
            </a:r>
            <a:r>
              <a:rPr i="1" lang="en" sz="1200">
                <a:solidFill>
                  <a:srgbClr val="1F1F1F"/>
                </a:solidFill>
                <a:latin typeface="Roboto"/>
                <a:ea typeface="Roboto"/>
                <a:cs typeface="Roboto"/>
                <a:sym typeface="Roboto"/>
              </a:rPr>
              <a:t>GenAI</a:t>
            </a:r>
            <a:endParaRPr sz="1200">
              <a:solidFill>
                <a:srgbClr val="1F1F1F"/>
              </a:solidFill>
              <a:latin typeface="Roboto"/>
              <a:ea typeface="Roboto"/>
              <a:cs typeface="Roboto"/>
              <a:sym typeface="Roboto"/>
            </a:endParaRPr>
          </a:p>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Company extraction</a:t>
            </a:r>
            <a:endParaRPr sz="1200">
              <a:solidFill>
                <a:srgbClr val="1F1F1F"/>
              </a:solidFill>
              <a:latin typeface="Roboto"/>
              <a:ea typeface="Roboto"/>
              <a:cs typeface="Roboto"/>
              <a:sym typeface="Roboto"/>
            </a:endParaRPr>
          </a:p>
          <a:p>
            <a:pPr indent="-304800" lvl="1" marL="9144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Used thel en_core_web_lg spaCy model to extract organization (ORG) entities </a:t>
            </a:r>
            <a:endParaRPr sz="1200">
              <a:solidFill>
                <a:srgbClr val="1F1F1F"/>
              </a:solidFill>
              <a:latin typeface="Roboto"/>
              <a:ea typeface="Roboto"/>
              <a:cs typeface="Roboto"/>
              <a:sym typeface="Roboto"/>
            </a:endParaRPr>
          </a:p>
          <a:p>
            <a:pPr indent="-304800" lvl="1" marL="9144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Excluded known publisher names such as </a:t>
            </a:r>
            <a:r>
              <a:rPr i="1" lang="en" sz="1200">
                <a:solidFill>
                  <a:srgbClr val="1F1F1F"/>
                </a:solidFill>
                <a:latin typeface="Roboto"/>
                <a:ea typeface="Roboto"/>
                <a:cs typeface="Roboto"/>
                <a:sym typeface="Roboto"/>
              </a:rPr>
              <a:t>Reuters</a:t>
            </a:r>
            <a:r>
              <a:rPr lang="en" sz="1200">
                <a:solidFill>
                  <a:srgbClr val="1F1F1F"/>
                </a:solidFill>
                <a:latin typeface="Roboto"/>
                <a:ea typeface="Roboto"/>
                <a:cs typeface="Roboto"/>
                <a:sym typeface="Roboto"/>
              </a:rPr>
              <a:t>, </a:t>
            </a:r>
            <a:r>
              <a:rPr i="1" lang="en" sz="1200">
                <a:solidFill>
                  <a:srgbClr val="1F1F1F"/>
                </a:solidFill>
                <a:latin typeface="Roboto"/>
                <a:ea typeface="Roboto"/>
                <a:cs typeface="Roboto"/>
                <a:sym typeface="Roboto"/>
              </a:rPr>
              <a:t>Bloomberg</a:t>
            </a:r>
            <a:r>
              <a:rPr lang="en" sz="1200">
                <a:solidFill>
                  <a:srgbClr val="1F1F1F"/>
                </a:solidFill>
                <a:latin typeface="Roboto"/>
                <a:ea typeface="Roboto"/>
                <a:cs typeface="Roboto"/>
                <a:sym typeface="Roboto"/>
              </a:rPr>
              <a:t>, </a:t>
            </a:r>
            <a:r>
              <a:rPr i="1" lang="en" sz="1200">
                <a:solidFill>
                  <a:srgbClr val="1F1F1F"/>
                </a:solidFill>
                <a:latin typeface="Roboto"/>
                <a:ea typeface="Roboto"/>
                <a:cs typeface="Roboto"/>
                <a:sym typeface="Roboto"/>
              </a:rPr>
              <a:t>Yahoo Finance</a:t>
            </a:r>
            <a:r>
              <a:rPr lang="en" sz="1200">
                <a:solidFill>
                  <a:srgbClr val="1F1F1F"/>
                </a:solidFill>
                <a:latin typeface="Roboto"/>
                <a:ea typeface="Roboto"/>
                <a:cs typeface="Roboto"/>
                <a:sym typeface="Roboto"/>
              </a:rPr>
              <a:t>, and </a:t>
            </a:r>
            <a:r>
              <a:rPr i="1" lang="en" sz="1200">
                <a:solidFill>
                  <a:srgbClr val="1F1F1F"/>
                </a:solidFill>
                <a:latin typeface="Roboto"/>
                <a:ea typeface="Roboto"/>
                <a:cs typeface="Roboto"/>
                <a:sym typeface="Roboto"/>
              </a:rPr>
              <a:t>Associated Press</a:t>
            </a:r>
            <a:endParaRPr i="1" sz="1200">
              <a:solidFill>
                <a:srgbClr val="1F1F1F"/>
              </a:solidFill>
              <a:latin typeface="Roboto"/>
              <a:ea typeface="Roboto"/>
              <a:cs typeface="Roboto"/>
              <a:sym typeface="Roboto"/>
            </a:endParaRPr>
          </a:p>
          <a:p>
            <a:pPr indent="-304800" lvl="1" marL="9144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Kept strong company candidates based on formatting, capitalization, legal suffixes, and known company names</a:t>
            </a:r>
            <a:endParaRPr sz="1200">
              <a:solidFill>
                <a:srgbClr val="1F1F1F"/>
              </a:solidFill>
              <a:latin typeface="Roboto"/>
              <a:ea typeface="Roboto"/>
              <a:cs typeface="Roboto"/>
              <a:sym typeface="Roboto"/>
            </a:endParaRPr>
          </a:p>
          <a:p>
            <a:pPr indent="-304800" lvl="1" marL="914400" rtl="0" algn="l">
              <a:spcBef>
                <a:spcPts val="0"/>
              </a:spcBef>
              <a:spcAft>
                <a:spcPts val="0"/>
              </a:spcAft>
              <a:buClr>
                <a:srgbClr val="1F1F1F"/>
              </a:buClr>
              <a:buSzPts val="1200"/>
              <a:buChar char="○"/>
            </a:pPr>
            <a:r>
              <a:rPr lang="en" sz="1200">
                <a:latin typeface="Roboto"/>
                <a:ea typeface="Roboto"/>
                <a:cs typeface="Roboto"/>
                <a:sym typeface="Roboto"/>
              </a:rPr>
              <a:t>Scored extracted companies using mention count, company name quality, and known firm lists, then selected the top 3 company mentions per article (identify relevant companies and reduce noise)</a:t>
            </a:r>
            <a:endParaRPr sz="1200">
              <a:solidFill>
                <a:srgbClr val="1F1F1F"/>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1"/>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NER – Analysis</a:t>
            </a:r>
            <a:endParaRPr/>
          </a:p>
        </p:txBody>
      </p:sp>
      <p:graphicFrame>
        <p:nvGraphicFramePr>
          <p:cNvPr id="198" name="Google Shape;198;p31"/>
          <p:cNvGraphicFramePr/>
          <p:nvPr/>
        </p:nvGraphicFramePr>
        <p:xfrm>
          <a:off x="144575" y="699950"/>
          <a:ext cx="3000000" cy="3000000"/>
        </p:xfrm>
        <a:graphic>
          <a:graphicData uri="http://schemas.openxmlformats.org/drawingml/2006/table">
            <a:tbl>
              <a:tblPr>
                <a:noFill/>
                <a:tableStyleId>{AECBC6A3-EEB5-4E53-B1B5-FC37A78BE2B4}</a:tableStyleId>
              </a:tblPr>
              <a:tblGrid>
                <a:gridCol w="508100"/>
                <a:gridCol w="2007325"/>
                <a:gridCol w="816975"/>
              </a:tblGrid>
              <a:tr h="190500">
                <a:tc>
                  <a:txBody>
                    <a:bodyPr/>
                    <a:lstStyle/>
                    <a:p>
                      <a:pPr indent="0" lvl="0" marL="0" rtl="0" algn="ctr">
                        <a:lnSpc>
                          <a:spcPct val="6000"/>
                        </a:lnSpc>
                        <a:spcBef>
                          <a:spcPts val="0"/>
                        </a:spcBef>
                        <a:spcAft>
                          <a:spcPts val="0"/>
                        </a:spcAft>
                        <a:buNone/>
                      </a:pPr>
                      <a:r>
                        <a:rPr b="1" lang="en" sz="1000">
                          <a:latin typeface="Roboto"/>
                          <a:ea typeface="Roboto"/>
                          <a:cs typeface="Roboto"/>
                          <a:sym typeface="Roboto"/>
                        </a:rPr>
                        <a:t>Rank</a:t>
                      </a:r>
                      <a:endParaRPr b="1"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1000">
                          <a:latin typeface="Roboto"/>
                          <a:ea typeface="Roboto"/>
                          <a:cs typeface="Roboto"/>
                          <a:sym typeface="Roboto"/>
                        </a:rPr>
                        <a:t>Company</a:t>
                      </a:r>
                      <a:endParaRPr b="1"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1000">
                          <a:latin typeface="Roboto"/>
                          <a:ea typeface="Roboto"/>
                          <a:cs typeface="Roboto"/>
                          <a:sym typeface="Roboto"/>
                        </a:rPr>
                        <a:t>Mentions</a:t>
                      </a:r>
                      <a:endParaRPr b="1"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Google</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21,352</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Microsoft</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15,467</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Amazon</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10,361</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Apple</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8,024</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Instagram</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6,570</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Meta</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6,280</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Nvidia</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5,139</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Facebook</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4,954</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Nexstar Media Inc</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2,760</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Tesla</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2,530</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99" name="Google Shape;199;p31"/>
          <p:cNvGraphicFramePr/>
          <p:nvPr/>
        </p:nvGraphicFramePr>
        <p:xfrm>
          <a:off x="144575" y="2937025"/>
          <a:ext cx="3000000" cy="3000000"/>
        </p:xfrm>
        <a:graphic>
          <a:graphicData uri="http://schemas.openxmlformats.org/drawingml/2006/table">
            <a:tbl>
              <a:tblPr>
                <a:noFill/>
                <a:tableStyleId>{AECBC6A3-EEB5-4E53-B1B5-FC37A78BE2B4}</a:tableStyleId>
              </a:tblPr>
              <a:tblGrid>
                <a:gridCol w="508100"/>
                <a:gridCol w="2007325"/>
                <a:gridCol w="816975"/>
              </a:tblGrid>
              <a:tr h="161100">
                <a:tc>
                  <a:txBody>
                    <a:bodyPr/>
                    <a:lstStyle/>
                    <a:p>
                      <a:pPr indent="0" lvl="0" marL="0" rtl="0" algn="ctr">
                        <a:lnSpc>
                          <a:spcPct val="6000"/>
                        </a:lnSpc>
                        <a:spcBef>
                          <a:spcPts val="0"/>
                        </a:spcBef>
                        <a:spcAft>
                          <a:spcPts val="0"/>
                        </a:spcAft>
                        <a:buNone/>
                      </a:pPr>
                      <a:r>
                        <a:rPr b="1" lang="en" sz="1000">
                          <a:latin typeface="Roboto"/>
                          <a:ea typeface="Roboto"/>
                          <a:cs typeface="Roboto"/>
                          <a:sym typeface="Roboto"/>
                        </a:rPr>
                        <a:t>Rank</a:t>
                      </a:r>
                      <a:endParaRPr b="1"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1000">
                          <a:latin typeface="Roboto"/>
                          <a:ea typeface="Roboto"/>
                          <a:cs typeface="Roboto"/>
                          <a:sym typeface="Roboto"/>
                        </a:rPr>
                        <a:t>Technology</a:t>
                      </a:r>
                      <a:endParaRPr b="1"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1000">
                          <a:latin typeface="Roboto"/>
                          <a:ea typeface="Roboto"/>
                          <a:cs typeface="Roboto"/>
                          <a:sym typeface="Roboto"/>
                        </a:rPr>
                        <a:t>Mentions</a:t>
                      </a:r>
                      <a:endParaRPr b="1"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Artificial Intelligence</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84,072</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Generative AI</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33,503</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Chatbot</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27,612</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AI Model</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24,618</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Large Language Model</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20,954</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Machine Learning</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19,631</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Robotics</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6,864</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Deep Learning</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4,369</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Natural Language Processing</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4,268</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Computer Vision</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lang="en" sz="1000">
                          <a:latin typeface="Roboto"/>
                          <a:ea typeface="Roboto"/>
                          <a:cs typeface="Roboto"/>
                          <a:sym typeface="Roboto"/>
                        </a:rPr>
                        <a:t>3,314</a:t>
                      </a:r>
                      <a:endParaRPr sz="10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00" name="Google Shape;200;p31"/>
          <p:cNvSpPr txBox="1"/>
          <p:nvPr/>
        </p:nvSpPr>
        <p:spPr>
          <a:xfrm>
            <a:off x="4086100" y="751375"/>
            <a:ext cx="4388100" cy="4588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Total unique companies: 71885</a:t>
            </a:r>
            <a:endParaRPr sz="1200">
              <a:solidFill>
                <a:srgbClr val="1F1F1F"/>
              </a:solidFill>
              <a:latin typeface="Roboto"/>
              <a:ea typeface="Roboto"/>
              <a:cs typeface="Roboto"/>
              <a:sym typeface="Roboto"/>
            </a:endParaRPr>
          </a:p>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Total company mentions: 357926</a:t>
            </a:r>
            <a:endParaRPr sz="1200">
              <a:solidFill>
                <a:srgbClr val="1F1F1F"/>
              </a:solidFill>
              <a:latin typeface="Roboto"/>
              <a:ea typeface="Roboto"/>
              <a:cs typeface="Roboto"/>
              <a:sym typeface="Roboto"/>
            </a:endParaRPr>
          </a:p>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Total unique technologies: 25</a:t>
            </a:r>
            <a:endParaRPr sz="1200">
              <a:solidFill>
                <a:srgbClr val="1F1F1F"/>
              </a:solidFill>
              <a:latin typeface="Roboto"/>
              <a:ea typeface="Roboto"/>
              <a:cs typeface="Roboto"/>
              <a:sym typeface="Roboto"/>
            </a:endParaRPr>
          </a:p>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Total technology mentions: 243387</a:t>
            </a:r>
            <a:endParaRPr sz="1200">
              <a:solidFill>
                <a:srgbClr val="1F1F1F"/>
              </a:solidFill>
              <a:latin typeface="Roboto"/>
              <a:ea typeface="Roboto"/>
              <a:cs typeface="Roboto"/>
              <a:sym typeface="Roboto"/>
            </a:endParaRPr>
          </a:p>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Some extracted entities in the company list are not actual companies, reflecting limitations of automated NER</a:t>
            </a:r>
            <a:endParaRPr sz="1200">
              <a:solidFill>
                <a:srgbClr val="1F1F1F"/>
              </a:solidFill>
              <a:latin typeface="Roboto"/>
              <a:ea typeface="Roboto"/>
              <a:cs typeface="Roboto"/>
              <a:sym typeface="Roboto"/>
            </a:endParaRPr>
          </a:p>
          <a:p>
            <a:pPr indent="-304800" lvl="1" marL="9144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ex: “Generative AI” (concept), “Research” (concept), “New Mexico” (location), “PR Newswire” (publisher)</a:t>
            </a:r>
            <a:endParaRPr sz="1200">
              <a:solidFill>
                <a:srgbClr val="1F1F1F"/>
              </a:solidFill>
              <a:latin typeface="Roboto"/>
              <a:ea typeface="Roboto"/>
              <a:cs typeface="Roboto"/>
              <a:sym typeface="Roboto"/>
            </a:endParaRPr>
          </a:p>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Technology terms come from a predefined list of AI-related concepts, so the number of possible technologies detected is limited to that set</a:t>
            </a:r>
            <a:endParaRPr sz="1200">
              <a:solidFill>
                <a:srgbClr val="1F1F1F"/>
              </a:solidFill>
              <a:latin typeface="Roboto"/>
              <a:ea typeface="Roboto"/>
              <a:cs typeface="Roboto"/>
              <a:sym typeface="Roboto"/>
            </a:endParaRPr>
          </a:p>
          <a:p>
            <a:pPr indent="-304800" lvl="0" marL="45720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Future NER modifications</a:t>
            </a:r>
            <a:endParaRPr sz="1200">
              <a:solidFill>
                <a:srgbClr val="1F1F1F"/>
              </a:solidFill>
              <a:latin typeface="Roboto"/>
              <a:ea typeface="Roboto"/>
              <a:cs typeface="Roboto"/>
              <a:sym typeface="Roboto"/>
            </a:endParaRPr>
          </a:p>
          <a:p>
            <a:pPr indent="-304800" lvl="1" marL="91440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Technology extraction could be expanded using semantic similarity to find words related to the existing technology terms</a:t>
            </a:r>
            <a:endParaRPr sz="1200">
              <a:solidFill>
                <a:srgbClr val="1F1F1F"/>
              </a:solidFill>
              <a:latin typeface="Roboto"/>
              <a:ea typeface="Roboto"/>
              <a:cs typeface="Roboto"/>
              <a:sym typeface="Roboto"/>
            </a:endParaRPr>
          </a:p>
          <a:p>
            <a:pPr indent="-304800" lvl="1" marL="91440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Company extraction could be improved by using a stronger NER model like en_core_web_trf</a:t>
            </a:r>
            <a:endParaRPr sz="1200">
              <a:solidFill>
                <a:srgbClr val="1F1F1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Sentiment Analysis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Sentiment Analysis – Model Training </a:t>
            </a:r>
            <a:endParaRPr/>
          </a:p>
        </p:txBody>
      </p:sp>
      <p:sp>
        <p:nvSpPr>
          <p:cNvPr id="211" name="Google Shape;211;p33"/>
          <p:cNvSpPr txBox="1"/>
          <p:nvPr/>
        </p:nvSpPr>
        <p:spPr>
          <a:xfrm>
            <a:off x="203525" y="1226025"/>
            <a:ext cx="4109400" cy="37680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Model: DistilRoBERTa</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Best performing transformer model for text classification </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Smaller and faster (less storage, limited GPU necessary)</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Dataset: ML News Sentiment Dataset (</a:t>
            </a:r>
            <a:r>
              <a:rPr lang="en" sz="1200">
                <a:solidFill>
                  <a:srgbClr val="1F1F1F"/>
                </a:solidFill>
                <a:latin typeface="Roboto"/>
                <a:ea typeface="Roboto"/>
                <a:cs typeface="Roboto"/>
                <a:sym typeface="Roboto"/>
              </a:rPr>
              <a:t>Hugging Face – sara-nabhani</a:t>
            </a:r>
            <a:r>
              <a:rPr lang="en" sz="1200">
                <a:solidFill>
                  <a:srgbClr val="1F1F1F"/>
                </a:solidFill>
                <a:latin typeface="Roboto"/>
                <a:ea typeface="Roboto"/>
                <a:cs typeface="Roboto"/>
                <a:sym typeface="Roboto"/>
              </a:rPr>
              <a:t>)</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General dataset for training sentiment model (could in future find dataset aligning more with AI news)</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Clean structure</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Negative = 0, Neutral = 1, Positive = 2</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Char char="○"/>
            </a:pPr>
            <a:r>
              <a:rPr lang="en" sz="1200">
                <a:solidFill>
                  <a:srgbClr val="1F1F1F"/>
                </a:solidFill>
                <a:latin typeface="Roboto"/>
                <a:ea typeface="Roboto"/>
                <a:cs typeface="Roboto"/>
                <a:sym typeface="Roboto"/>
              </a:rPr>
              <a:t>Columns: text, label, label_name</a:t>
            </a:r>
            <a:endParaRPr sz="1200">
              <a:solidFill>
                <a:srgbClr val="1F1F1F"/>
              </a:solidFill>
              <a:latin typeface="Roboto"/>
              <a:ea typeface="Roboto"/>
              <a:cs typeface="Roboto"/>
              <a:sym typeface="Roboto"/>
            </a:endParaRPr>
          </a:p>
          <a:p>
            <a:pPr indent="-304800" lvl="1" marL="9144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4551 training articles, 506 test articles</a:t>
            </a:r>
            <a:endParaRPr sz="1200">
              <a:solidFill>
                <a:srgbClr val="1F1F1F"/>
              </a:solidFill>
              <a:latin typeface="Roboto"/>
              <a:ea typeface="Roboto"/>
              <a:cs typeface="Roboto"/>
              <a:sym typeface="Roboto"/>
            </a:endParaRPr>
          </a:p>
          <a:p>
            <a:pPr indent="-304800" lvl="0" marL="457200" marR="0" rtl="0" algn="l">
              <a:lnSpc>
                <a:spcPct val="115000"/>
              </a:lnSpc>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Strong and balanced performance across classes </a:t>
            </a:r>
            <a:r>
              <a:rPr lang="en" sz="1200">
                <a:solidFill>
                  <a:srgbClr val="1F1F1F"/>
                </a:solidFill>
                <a:latin typeface="Roboto"/>
                <a:ea typeface="Roboto"/>
                <a:cs typeface="Roboto"/>
                <a:sym typeface="Roboto"/>
              </a:rPr>
              <a:t>despite</a:t>
            </a:r>
            <a:r>
              <a:rPr lang="en" sz="1200">
                <a:solidFill>
                  <a:srgbClr val="1F1F1F"/>
                </a:solidFill>
                <a:latin typeface="Roboto"/>
                <a:ea typeface="Roboto"/>
                <a:cs typeface="Roboto"/>
                <a:sym typeface="Roboto"/>
              </a:rPr>
              <a:t> class imbalance </a:t>
            </a:r>
            <a:endParaRPr b="1" sz="1100"/>
          </a:p>
          <a:p>
            <a:pPr indent="0" lvl="0" marL="457200" marR="0" rtl="0" algn="l">
              <a:lnSpc>
                <a:spcPct val="115000"/>
              </a:lnSpc>
              <a:spcBef>
                <a:spcPts val="0"/>
              </a:spcBef>
              <a:spcAft>
                <a:spcPts val="0"/>
              </a:spcAft>
              <a:buNone/>
            </a:pPr>
            <a:r>
              <a:t/>
            </a:r>
            <a:endParaRPr sz="1200">
              <a:solidFill>
                <a:srgbClr val="1F1F1F"/>
              </a:solidFill>
              <a:latin typeface="Roboto"/>
              <a:ea typeface="Roboto"/>
              <a:cs typeface="Roboto"/>
              <a:sym typeface="Roboto"/>
            </a:endParaRPr>
          </a:p>
        </p:txBody>
      </p:sp>
      <p:graphicFrame>
        <p:nvGraphicFramePr>
          <p:cNvPr id="212" name="Google Shape;212;p33"/>
          <p:cNvGraphicFramePr/>
          <p:nvPr/>
        </p:nvGraphicFramePr>
        <p:xfrm>
          <a:off x="4450400" y="1396125"/>
          <a:ext cx="3000000" cy="3000000"/>
        </p:xfrm>
        <a:graphic>
          <a:graphicData uri="http://schemas.openxmlformats.org/drawingml/2006/table">
            <a:tbl>
              <a:tblPr>
                <a:noFill/>
                <a:tableStyleId>{AECBC6A3-EEB5-4E53-B1B5-FC37A78BE2B4}</a:tableStyleId>
              </a:tblPr>
              <a:tblGrid>
                <a:gridCol w="1465450"/>
                <a:gridCol w="889825"/>
                <a:gridCol w="708075"/>
                <a:gridCol w="781600"/>
                <a:gridCol w="731175"/>
              </a:tblGrid>
              <a:tr h="190500">
                <a:tc>
                  <a:txBody>
                    <a:bodyPr/>
                    <a:lstStyle/>
                    <a:p>
                      <a:pPr indent="0" lvl="0" marL="0" rtl="0" algn="ctr">
                        <a:lnSpc>
                          <a:spcPct val="115000"/>
                        </a:lnSpc>
                        <a:spcBef>
                          <a:spcPts val="0"/>
                        </a:spcBef>
                        <a:spcAft>
                          <a:spcPts val="0"/>
                        </a:spcAft>
                        <a:buNone/>
                      </a:pPr>
                      <a:r>
                        <a:rPr b="1" lang="en" sz="1200">
                          <a:latin typeface="Roboto"/>
                          <a:ea typeface="Roboto"/>
                          <a:cs typeface="Roboto"/>
                          <a:sym typeface="Roboto"/>
                        </a:rPr>
                        <a:t>Class</a:t>
                      </a:r>
                      <a:endParaRPr b="1"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Roboto"/>
                          <a:ea typeface="Roboto"/>
                          <a:cs typeface="Roboto"/>
                          <a:sym typeface="Roboto"/>
                        </a:rPr>
                        <a:t>Precision</a:t>
                      </a:r>
                      <a:endParaRPr b="1"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Roboto"/>
                          <a:ea typeface="Roboto"/>
                          <a:cs typeface="Roboto"/>
                          <a:sym typeface="Roboto"/>
                        </a:rPr>
                        <a:t>Recall</a:t>
                      </a:r>
                      <a:endParaRPr b="1"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Roboto"/>
                          <a:ea typeface="Roboto"/>
                          <a:cs typeface="Roboto"/>
                          <a:sym typeface="Roboto"/>
                        </a:rPr>
                        <a:t>F1 Score</a:t>
                      </a:r>
                      <a:endParaRPr b="1"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Roboto"/>
                          <a:ea typeface="Roboto"/>
                          <a:cs typeface="Roboto"/>
                          <a:sym typeface="Roboto"/>
                        </a:rPr>
                        <a:t>Support</a:t>
                      </a:r>
                      <a:endParaRPr b="1"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sz="1200">
                          <a:latin typeface="Roboto"/>
                          <a:ea typeface="Roboto"/>
                          <a:cs typeface="Roboto"/>
                          <a:sym typeface="Roboto"/>
                        </a:rPr>
                        <a:t>Negative</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0.87</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0.92</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0.89</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87</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sz="1200">
                          <a:latin typeface="Roboto"/>
                          <a:ea typeface="Roboto"/>
                          <a:cs typeface="Roboto"/>
                          <a:sym typeface="Roboto"/>
                        </a:rPr>
                        <a:t>Neutral</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0.90</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0.86</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0.88</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268</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sz="1200">
                          <a:latin typeface="Roboto"/>
                          <a:ea typeface="Roboto"/>
                          <a:cs typeface="Roboto"/>
                          <a:sym typeface="Roboto"/>
                        </a:rPr>
                        <a:t>Positive</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0.82</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0.85</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0.84</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151</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 sz="1200">
                          <a:latin typeface="Roboto"/>
                          <a:ea typeface="Roboto"/>
                          <a:cs typeface="Roboto"/>
                          <a:sym typeface="Roboto"/>
                        </a:rPr>
                        <a:t>Overall</a:t>
                      </a:r>
                      <a:endParaRPr b="1"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sz="1200">
                          <a:latin typeface="Roboto"/>
                          <a:ea typeface="Roboto"/>
                          <a:cs typeface="Roboto"/>
                          <a:sym typeface="Roboto"/>
                        </a:rPr>
                        <a:t>Macro Avg</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0.86</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0.88</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0.87</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506</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sz="1200">
                          <a:latin typeface="Roboto"/>
                          <a:ea typeface="Roboto"/>
                          <a:cs typeface="Roboto"/>
                          <a:sym typeface="Roboto"/>
                        </a:rPr>
                        <a:t>Weighted Avg</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0.87</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0.87</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0.87</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oboto"/>
                          <a:ea typeface="Roboto"/>
                          <a:cs typeface="Roboto"/>
                          <a:sym typeface="Roboto"/>
                        </a:rPr>
                        <a:t>506</a:t>
                      </a:r>
                      <a:endParaRPr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Sentiment Analysis – Aspect Based Sentiment Analysis (ABSA)</a:t>
            </a:r>
            <a:endParaRPr/>
          </a:p>
        </p:txBody>
      </p:sp>
      <p:sp>
        <p:nvSpPr>
          <p:cNvPr id="218" name="Google Shape;218;p34"/>
          <p:cNvSpPr txBox="1"/>
          <p:nvPr/>
        </p:nvSpPr>
        <p:spPr>
          <a:xfrm>
            <a:off x="1332075" y="1177875"/>
            <a:ext cx="5843100" cy="3905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1F1F1F"/>
              </a:buClr>
              <a:buSzPts val="1400"/>
              <a:buChar char="●"/>
            </a:pPr>
            <a:r>
              <a:rPr lang="en">
                <a:solidFill>
                  <a:srgbClr val="1F1F1F"/>
                </a:solidFill>
                <a:latin typeface="Roboto"/>
                <a:ea typeface="Roboto"/>
                <a:cs typeface="Roboto"/>
                <a:sym typeface="Roboto"/>
              </a:rPr>
              <a:t>Built one row per aspect mention, where each aspect was either a company or a technology based on </a:t>
            </a:r>
            <a:r>
              <a:rPr lang="en">
                <a:solidFill>
                  <a:srgbClr val="1F1F1F"/>
                </a:solidFill>
                <a:latin typeface="Roboto"/>
                <a:ea typeface="Roboto"/>
                <a:cs typeface="Roboto"/>
                <a:sym typeface="Roboto"/>
              </a:rPr>
              <a:t>previous</a:t>
            </a:r>
            <a:r>
              <a:rPr lang="en">
                <a:solidFill>
                  <a:srgbClr val="1F1F1F"/>
                </a:solidFill>
                <a:latin typeface="Roboto"/>
                <a:ea typeface="Roboto"/>
                <a:cs typeface="Roboto"/>
                <a:sym typeface="Roboto"/>
              </a:rPr>
              <a:t> NER</a:t>
            </a:r>
            <a:endParaRPr>
              <a:solidFill>
                <a:srgbClr val="1F1F1F"/>
              </a:solidFill>
              <a:latin typeface="Roboto"/>
              <a:ea typeface="Roboto"/>
              <a:cs typeface="Roboto"/>
              <a:sym typeface="Roboto"/>
            </a:endParaRPr>
          </a:p>
          <a:p>
            <a:pPr indent="-317500" lvl="1" marL="914400" rtl="0" algn="l">
              <a:spcBef>
                <a:spcPts val="0"/>
              </a:spcBef>
              <a:spcAft>
                <a:spcPts val="0"/>
              </a:spcAft>
              <a:buClr>
                <a:srgbClr val="1F1F1F"/>
              </a:buClr>
              <a:buSzPts val="1400"/>
              <a:buChar char="○"/>
            </a:pPr>
            <a:r>
              <a:rPr lang="en">
                <a:solidFill>
                  <a:srgbClr val="1F1F1F"/>
                </a:solidFill>
                <a:latin typeface="Roboto"/>
                <a:ea typeface="Roboto"/>
                <a:cs typeface="Roboto"/>
                <a:sym typeface="Roboto"/>
              </a:rPr>
              <a:t>Pulled a local text snippet (“context”) around each aspect mention</a:t>
            </a:r>
            <a:endParaRPr>
              <a:solidFill>
                <a:srgbClr val="1F1F1F"/>
              </a:solidFill>
              <a:latin typeface="Roboto"/>
              <a:ea typeface="Roboto"/>
              <a:cs typeface="Roboto"/>
              <a:sym typeface="Roboto"/>
            </a:endParaRPr>
          </a:p>
          <a:p>
            <a:pPr indent="-317500" lvl="1" marL="914400" rtl="0" algn="l">
              <a:spcBef>
                <a:spcPts val="0"/>
              </a:spcBef>
              <a:spcAft>
                <a:spcPts val="0"/>
              </a:spcAft>
              <a:buClr>
                <a:srgbClr val="1F1F1F"/>
              </a:buClr>
              <a:buSzPts val="1400"/>
              <a:buChar char="○"/>
            </a:pPr>
            <a:r>
              <a:rPr lang="en">
                <a:solidFill>
                  <a:srgbClr val="1F1F1F"/>
                </a:solidFill>
                <a:latin typeface="Roboto"/>
                <a:ea typeface="Roboto"/>
                <a:cs typeface="Roboto"/>
                <a:sym typeface="Roboto"/>
              </a:rPr>
              <a:t>If the aspect was not found, used the first part of the article</a:t>
            </a:r>
            <a:endParaRPr>
              <a:solidFill>
                <a:srgbClr val="1F1F1F"/>
              </a:solidFill>
              <a:latin typeface="Roboto"/>
              <a:ea typeface="Roboto"/>
              <a:cs typeface="Roboto"/>
              <a:sym typeface="Roboto"/>
            </a:endParaRPr>
          </a:p>
          <a:p>
            <a:pPr indent="-317500" lvl="0" marL="457200" rtl="0" algn="l">
              <a:spcBef>
                <a:spcPts val="0"/>
              </a:spcBef>
              <a:spcAft>
                <a:spcPts val="0"/>
              </a:spcAft>
              <a:buClr>
                <a:srgbClr val="1F1F1F"/>
              </a:buClr>
              <a:buSzPts val="1400"/>
              <a:buChar char="●"/>
            </a:pPr>
            <a:r>
              <a:rPr lang="en">
                <a:solidFill>
                  <a:srgbClr val="1F1F1F"/>
                </a:solidFill>
                <a:latin typeface="Roboto"/>
                <a:ea typeface="Roboto"/>
                <a:cs typeface="Roboto"/>
                <a:sym typeface="Roboto"/>
              </a:rPr>
              <a:t>Ran ABSA by feeding the context as the main text and the aspect as the paired text into the trained sentiment model</a:t>
            </a:r>
            <a:endParaRPr>
              <a:solidFill>
                <a:srgbClr val="1F1F1F"/>
              </a:solidFill>
              <a:latin typeface="Roboto"/>
              <a:ea typeface="Roboto"/>
              <a:cs typeface="Roboto"/>
              <a:sym typeface="Roboto"/>
            </a:endParaRPr>
          </a:p>
          <a:p>
            <a:pPr indent="-317500" lvl="0" marL="457200" rtl="0" algn="l">
              <a:spcBef>
                <a:spcPts val="0"/>
              </a:spcBef>
              <a:spcAft>
                <a:spcPts val="0"/>
              </a:spcAft>
              <a:buClr>
                <a:srgbClr val="1F1F1F"/>
              </a:buClr>
              <a:buSzPts val="1400"/>
              <a:buChar char="●"/>
            </a:pPr>
            <a:r>
              <a:rPr lang="en">
                <a:solidFill>
                  <a:srgbClr val="1F1F1F"/>
                </a:solidFill>
                <a:latin typeface="Roboto"/>
                <a:ea typeface="Roboto"/>
                <a:cs typeface="Roboto"/>
                <a:sym typeface="Roboto"/>
              </a:rPr>
              <a:t>Predicted sentiment for each aspect mention as negative, neutral, or positive, along with class probabilities</a:t>
            </a:r>
            <a:endParaRPr>
              <a:solidFill>
                <a:srgbClr val="1F1F1F"/>
              </a:solidFill>
              <a:latin typeface="Roboto"/>
              <a:ea typeface="Roboto"/>
              <a:cs typeface="Roboto"/>
              <a:sym typeface="Roboto"/>
            </a:endParaRPr>
          </a:p>
          <a:p>
            <a:pPr indent="-317500" lvl="0" marL="457200" rtl="0" algn="l">
              <a:spcBef>
                <a:spcPts val="0"/>
              </a:spcBef>
              <a:spcAft>
                <a:spcPts val="0"/>
              </a:spcAft>
              <a:buClr>
                <a:srgbClr val="1F1F1F"/>
              </a:buClr>
              <a:buSzPts val="1400"/>
              <a:buFont typeface="Roboto"/>
              <a:buChar char="●"/>
            </a:pPr>
            <a:r>
              <a:rPr lang="en">
                <a:solidFill>
                  <a:srgbClr val="1F1F1F"/>
                </a:solidFill>
                <a:latin typeface="Roboto"/>
                <a:ea typeface="Roboto"/>
                <a:cs typeface="Roboto"/>
                <a:sym typeface="Roboto"/>
              </a:rPr>
              <a:t>Aggregations</a:t>
            </a:r>
            <a:endParaRPr>
              <a:solidFill>
                <a:srgbClr val="1F1F1F"/>
              </a:solidFill>
              <a:latin typeface="Roboto"/>
              <a:ea typeface="Roboto"/>
              <a:cs typeface="Roboto"/>
              <a:sym typeface="Roboto"/>
            </a:endParaRPr>
          </a:p>
          <a:p>
            <a:pPr indent="-317500" lvl="1" marL="914400" rtl="0" algn="l">
              <a:spcBef>
                <a:spcPts val="0"/>
              </a:spcBef>
              <a:spcAft>
                <a:spcPts val="0"/>
              </a:spcAft>
              <a:buClr>
                <a:srgbClr val="1F1F1F"/>
              </a:buClr>
              <a:buSzPts val="1400"/>
              <a:buChar char="○"/>
            </a:pPr>
            <a:r>
              <a:rPr lang="en">
                <a:solidFill>
                  <a:srgbClr val="1F1F1F"/>
                </a:solidFill>
                <a:latin typeface="Roboto"/>
                <a:ea typeface="Roboto"/>
                <a:cs typeface="Roboto"/>
                <a:sym typeface="Roboto"/>
              </a:rPr>
              <a:t>By aspect: to measure how each company or technology was discussed across articles</a:t>
            </a:r>
            <a:endParaRPr>
              <a:solidFill>
                <a:srgbClr val="1F1F1F"/>
              </a:solidFill>
              <a:latin typeface="Roboto"/>
              <a:ea typeface="Roboto"/>
              <a:cs typeface="Roboto"/>
              <a:sym typeface="Roboto"/>
            </a:endParaRPr>
          </a:p>
          <a:p>
            <a:pPr indent="-317500" lvl="1" marL="914400" rtl="0" algn="l">
              <a:spcBef>
                <a:spcPts val="0"/>
              </a:spcBef>
              <a:spcAft>
                <a:spcPts val="0"/>
              </a:spcAft>
              <a:buClr>
                <a:srgbClr val="1F1F1F"/>
              </a:buClr>
              <a:buSzPts val="1400"/>
              <a:buFont typeface="Roboto"/>
              <a:buChar char="○"/>
            </a:pPr>
            <a:r>
              <a:rPr lang="en">
                <a:solidFill>
                  <a:srgbClr val="1F1F1F"/>
                </a:solidFill>
                <a:latin typeface="Roboto"/>
                <a:ea typeface="Roboto"/>
                <a:cs typeface="Roboto"/>
                <a:sym typeface="Roboto"/>
              </a:rPr>
              <a:t>By article: to summarize the overall sentiment of company/technology mentions within each article</a:t>
            </a:r>
            <a:endParaRPr>
              <a:solidFill>
                <a:srgbClr val="1F1F1F"/>
              </a:solidFill>
              <a:latin typeface="Roboto"/>
              <a:ea typeface="Roboto"/>
              <a:cs typeface="Roboto"/>
              <a:sym typeface="Roboto"/>
            </a:endParaRPr>
          </a:p>
          <a:p>
            <a:pPr indent="-317500" lvl="1" marL="914400" rtl="0" algn="l">
              <a:spcBef>
                <a:spcPts val="0"/>
              </a:spcBef>
              <a:spcAft>
                <a:spcPts val="0"/>
              </a:spcAft>
              <a:buClr>
                <a:srgbClr val="1F1F1F"/>
              </a:buClr>
              <a:buSzPts val="1400"/>
              <a:buFont typeface="Roboto"/>
              <a:buChar char="○"/>
            </a:pPr>
            <a:r>
              <a:rPr lang="en">
                <a:solidFill>
                  <a:srgbClr val="1F1F1F"/>
                </a:solidFill>
                <a:latin typeface="Roboto"/>
                <a:ea typeface="Roboto"/>
                <a:cs typeface="Roboto"/>
                <a:sym typeface="Roboto"/>
              </a:rPr>
              <a:t>By topic (NMF): to compare sentiment patterns across topic groups</a:t>
            </a:r>
            <a:endParaRPr>
              <a:solidFill>
                <a:srgbClr val="1F1F1F"/>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Results and Future Considerations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Results —  Time Series </a:t>
            </a:r>
            <a:endParaRPr/>
          </a:p>
        </p:txBody>
      </p:sp>
      <p:sp>
        <p:nvSpPr>
          <p:cNvPr id="229" name="Google Shape;229;p36"/>
          <p:cNvSpPr txBox="1"/>
          <p:nvPr/>
        </p:nvSpPr>
        <p:spPr>
          <a:xfrm>
            <a:off x="98250" y="694700"/>
            <a:ext cx="4353000" cy="46527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1200"/>
              </a:spcBef>
              <a:spcAft>
                <a:spcPts val="0"/>
              </a:spcAft>
              <a:buSzPts val="1100"/>
              <a:buChar char="●"/>
            </a:pPr>
            <a:r>
              <a:rPr lang="en" sz="1100">
                <a:latin typeface="Roboto"/>
                <a:ea typeface="Roboto"/>
                <a:cs typeface="Roboto"/>
                <a:sym typeface="Roboto"/>
              </a:rPr>
              <a:t>Publication dates were aggregated to the monthly level, and sentiment counts were converted into proportions</a:t>
            </a:r>
            <a:endParaRPr sz="1100">
              <a:latin typeface="Roboto"/>
              <a:ea typeface="Roboto"/>
              <a:cs typeface="Roboto"/>
              <a:sym typeface="Roboto"/>
            </a:endParaRPr>
          </a:p>
          <a:p>
            <a:pPr indent="-298450" lvl="0" marL="457200" rtl="0" algn="l">
              <a:lnSpc>
                <a:spcPct val="100000"/>
              </a:lnSpc>
              <a:spcBef>
                <a:spcPts val="0"/>
              </a:spcBef>
              <a:spcAft>
                <a:spcPts val="0"/>
              </a:spcAft>
              <a:buSzPts val="1100"/>
              <a:buChar char="●"/>
            </a:pPr>
            <a:r>
              <a:rPr lang="en" sz="1100">
                <a:latin typeface="Roboto"/>
                <a:ea typeface="Roboto"/>
                <a:cs typeface="Roboto"/>
                <a:sym typeface="Roboto"/>
              </a:rPr>
              <a:t>Neutral sentiment dominates across all industry topics over time, indicating that most coverage is descriptive rather than strongly opinionated</a:t>
            </a:r>
            <a:endParaRPr sz="1100">
              <a:latin typeface="Roboto"/>
              <a:ea typeface="Roboto"/>
              <a:cs typeface="Roboto"/>
              <a:sym typeface="Roboto"/>
            </a:endParaRPr>
          </a:p>
          <a:p>
            <a:pPr indent="-298450" lvl="0" marL="457200" rtl="0" algn="l">
              <a:lnSpc>
                <a:spcPct val="100000"/>
              </a:lnSpc>
              <a:spcBef>
                <a:spcPts val="0"/>
              </a:spcBef>
              <a:spcAft>
                <a:spcPts val="0"/>
              </a:spcAft>
              <a:buSzPts val="1100"/>
              <a:buFont typeface="Roboto"/>
              <a:buChar char="●"/>
            </a:pPr>
            <a:r>
              <a:rPr lang="en" sz="1100">
                <a:latin typeface="Roboto"/>
                <a:ea typeface="Roboto"/>
                <a:cs typeface="Roboto"/>
                <a:sym typeface="Roboto"/>
              </a:rPr>
              <a:t>Interesting industry patterns over time:</a:t>
            </a:r>
            <a:endParaRPr sz="1100">
              <a:latin typeface="Roboto"/>
              <a:ea typeface="Roboto"/>
              <a:cs typeface="Roboto"/>
              <a:sym typeface="Roboto"/>
            </a:endParaRPr>
          </a:p>
          <a:p>
            <a:pPr indent="-298450" lvl="1" marL="914400" rtl="0" algn="l">
              <a:lnSpc>
                <a:spcPct val="100000"/>
              </a:lnSpc>
              <a:spcBef>
                <a:spcPts val="0"/>
              </a:spcBef>
              <a:spcAft>
                <a:spcPts val="0"/>
              </a:spcAft>
              <a:buSzPts val="1100"/>
              <a:buChar char="○"/>
            </a:pPr>
            <a:r>
              <a:rPr lang="en" sz="1100">
                <a:latin typeface="Roboto"/>
                <a:ea typeface="Roboto"/>
                <a:cs typeface="Roboto"/>
                <a:sym typeface="Roboto"/>
              </a:rPr>
              <a:t>Cryptocurrency &amp; Digital Assets shows the greatest volatility, suggesting it is the most sentiment-sensitive topic and reacts strongly to market shocks, regulation, and technological developments</a:t>
            </a:r>
            <a:endParaRPr sz="1100">
              <a:latin typeface="Roboto"/>
              <a:ea typeface="Roboto"/>
              <a:cs typeface="Roboto"/>
              <a:sym typeface="Roboto"/>
            </a:endParaRPr>
          </a:p>
          <a:p>
            <a:pPr indent="-298450" lvl="1" marL="914400" rtl="0" algn="l">
              <a:lnSpc>
                <a:spcPct val="100000"/>
              </a:lnSpc>
              <a:spcBef>
                <a:spcPts val="0"/>
              </a:spcBef>
              <a:spcAft>
                <a:spcPts val="0"/>
              </a:spcAft>
              <a:buSzPts val="1100"/>
              <a:buChar char="○"/>
            </a:pPr>
            <a:r>
              <a:rPr lang="en" sz="1100">
                <a:latin typeface="Roboto"/>
                <a:ea typeface="Roboto"/>
                <a:cs typeface="Roboto"/>
                <a:sym typeface="Roboto"/>
              </a:rPr>
              <a:t>Public AI Companies shows a relatively strong positive sentiment share and a decline in negative sentiment over time, which is consistent with the broader AI boom</a:t>
            </a:r>
            <a:endParaRPr sz="1100">
              <a:latin typeface="Roboto"/>
              <a:ea typeface="Roboto"/>
              <a:cs typeface="Roboto"/>
              <a:sym typeface="Roboto"/>
            </a:endParaRPr>
          </a:p>
          <a:p>
            <a:pPr indent="-298450" lvl="1" marL="914400" rtl="0" algn="l">
              <a:lnSpc>
                <a:spcPct val="100000"/>
              </a:lnSpc>
              <a:spcBef>
                <a:spcPts val="0"/>
              </a:spcBef>
              <a:spcAft>
                <a:spcPts val="0"/>
              </a:spcAft>
              <a:buSzPts val="1100"/>
              <a:buChar char="○"/>
            </a:pPr>
            <a:r>
              <a:rPr lang="en" sz="1100">
                <a:latin typeface="Roboto"/>
                <a:ea typeface="Roboto"/>
                <a:cs typeface="Roboto"/>
                <a:sym typeface="Roboto"/>
              </a:rPr>
              <a:t>Music &amp; Entertainment shows a rise in negative sentiment around 2024, likely reflecting growing concern about AI replacing creative work or threatening artists’ jobs</a:t>
            </a:r>
            <a:endParaRPr sz="1100">
              <a:latin typeface="Roboto"/>
              <a:ea typeface="Roboto"/>
              <a:cs typeface="Roboto"/>
              <a:sym typeface="Roboto"/>
            </a:endParaRPr>
          </a:p>
          <a:p>
            <a:pPr indent="-298450" lvl="1" marL="914400" rtl="0" algn="l">
              <a:lnSpc>
                <a:spcPct val="100000"/>
              </a:lnSpc>
              <a:spcBef>
                <a:spcPts val="0"/>
              </a:spcBef>
              <a:spcAft>
                <a:spcPts val="0"/>
              </a:spcAft>
              <a:buSzPts val="1100"/>
              <a:buChar char="○"/>
            </a:pPr>
            <a:r>
              <a:rPr lang="en" sz="1100">
                <a:latin typeface="Roboto"/>
                <a:ea typeface="Roboto"/>
                <a:cs typeface="Roboto"/>
                <a:sym typeface="Roboto"/>
              </a:rPr>
              <a:t>Financial Markets &amp; Investing shows a higher share of negative sentiment around mid-2022, which may reflect broader market weakness during that period</a:t>
            </a:r>
            <a:endParaRPr sz="1100">
              <a:latin typeface="Roboto"/>
              <a:ea typeface="Roboto"/>
              <a:cs typeface="Roboto"/>
              <a:sym typeface="Roboto"/>
            </a:endParaRPr>
          </a:p>
          <a:p>
            <a:pPr indent="-298450" lvl="1" marL="914400" rtl="0" algn="l">
              <a:lnSpc>
                <a:spcPct val="100000"/>
              </a:lnSpc>
              <a:spcBef>
                <a:spcPts val="0"/>
              </a:spcBef>
              <a:spcAft>
                <a:spcPts val="0"/>
              </a:spcAft>
              <a:buSzPts val="1100"/>
              <a:buChar char="○"/>
            </a:pPr>
            <a:r>
              <a:rPr lang="en" sz="1100">
                <a:latin typeface="Roboto"/>
                <a:ea typeface="Roboto"/>
                <a:cs typeface="Roboto"/>
                <a:sym typeface="Roboto"/>
              </a:rPr>
              <a:t>Healthcare &amp; Life Sciences shows a noticeable positive sentiment increase around November 2023, which is somewhat surprising given concerns such as healthcare-related breaches and risks at this time</a:t>
            </a:r>
            <a:endParaRPr sz="1100">
              <a:latin typeface="Roboto"/>
              <a:ea typeface="Roboto"/>
              <a:cs typeface="Roboto"/>
              <a:sym typeface="Roboto"/>
            </a:endParaRPr>
          </a:p>
        </p:txBody>
      </p:sp>
      <p:pic>
        <p:nvPicPr>
          <p:cNvPr id="230" name="Google Shape;230;p36" title="topic_12_Public_AI_Companies_sentiment_proportions_over_time.png"/>
          <p:cNvPicPr preferRelativeResize="0"/>
          <p:nvPr/>
        </p:nvPicPr>
        <p:blipFill>
          <a:blip r:embed="rId3">
            <a:alphaModFix/>
          </a:blip>
          <a:stretch>
            <a:fillRect/>
          </a:stretch>
        </p:blipFill>
        <p:spPr>
          <a:xfrm>
            <a:off x="5021038" y="2183800"/>
            <a:ext cx="2984914" cy="1470600"/>
          </a:xfrm>
          <a:prstGeom prst="rect">
            <a:avLst/>
          </a:prstGeom>
          <a:noFill/>
          <a:ln>
            <a:noFill/>
          </a:ln>
        </p:spPr>
      </p:pic>
      <p:pic>
        <p:nvPicPr>
          <p:cNvPr id="231" name="Google Shape;231;p36" title="topic_10_Cryptocurrency_Digital_Assets_sentiment_proportions_over_time.png"/>
          <p:cNvPicPr preferRelativeResize="0"/>
          <p:nvPr/>
        </p:nvPicPr>
        <p:blipFill>
          <a:blip r:embed="rId4">
            <a:alphaModFix/>
          </a:blip>
          <a:stretch>
            <a:fillRect/>
          </a:stretch>
        </p:blipFill>
        <p:spPr>
          <a:xfrm>
            <a:off x="5021050" y="694700"/>
            <a:ext cx="2984899" cy="1470592"/>
          </a:xfrm>
          <a:prstGeom prst="rect">
            <a:avLst/>
          </a:prstGeom>
          <a:noFill/>
          <a:ln>
            <a:noFill/>
          </a:ln>
        </p:spPr>
      </p:pic>
      <p:pic>
        <p:nvPicPr>
          <p:cNvPr id="232" name="Google Shape;232;p36" title="topic_14_Music_Entertainment_sentiment_proportions_over_time.png"/>
          <p:cNvPicPr preferRelativeResize="0"/>
          <p:nvPr/>
        </p:nvPicPr>
        <p:blipFill>
          <a:blip r:embed="rId5">
            <a:alphaModFix/>
          </a:blip>
          <a:stretch>
            <a:fillRect/>
          </a:stretch>
        </p:blipFill>
        <p:spPr>
          <a:xfrm>
            <a:off x="5021050" y="3672900"/>
            <a:ext cx="2984899" cy="1470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7"/>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Results — Technology</a:t>
            </a:r>
            <a:endParaRPr/>
          </a:p>
        </p:txBody>
      </p:sp>
      <p:sp>
        <p:nvSpPr>
          <p:cNvPr id="238" name="Google Shape;238;p37"/>
          <p:cNvSpPr txBox="1"/>
          <p:nvPr/>
        </p:nvSpPr>
        <p:spPr>
          <a:xfrm>
            <a:off x="0" y="789125"/>
            <a:ext cx="3928500" cy="42264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latin typeface="Roboto"/>
                <a:ea typeface="Roboto"/>
                <a:cs typeface="Roboto"/>
                <a:sym typeface="Roboto"/>
              </a:rPr>
              <a:t>Artificial Intelligence, Generative AI, Machine Learning, and Chatbots dominate across nearly every topic, indicating that these technologies are the core themes of AI-related news across industries</a:t>
            </a:r>
            <a:endParaRPr sz="1200">
              <a:latin typeface="Roboto"/>
              <a:ea typeface="Roboto"/>
              <a:cs typeface="Roboto"/>
              <a:sym typeface="Roboto"/>
            </a:endParaRPr>
          </a:p>
          <a:p>
            <a:pPr indent="-304800" lvl="0" marL="457200" rtl="0" algn="l">
              <a:spcBef>
                <a:spcPts val="0"/>
              </a:spcBef>
              <a:spcAft>
                <a:spcPts val="0"/>
              </a:spcAft>
              <a:buSzPts val="1200"/>
              <a:buChar char="●"/>
            </a:pPr>
            <a:r>
              <a:rPr lang="en" sz="1200">
                <a:latin typeface="Roboto"/>
                <a:ea typeface="Roboto"/>
                <a:cs typeface="Roboto"/>
                <a:sym typeface="Roboto"/>
              </a:rPr>
              <a:t>Neutral sentiment is consistently the largest category across technologies, reflecting the informational and reporting style typical of news articles rather than opinionated commentary</a:t>
            </a:r>
            <a:endParaRPr sz="1200">
              <a:latin typeface="Roboto"/>
              <a:ea typeface="Roboto"/>
              <a:cs typeface="Roboto"/>
              <a:sym typeface="Roboto"/>
            </a:endParaRPr>
          </a:p>
          <a:p>
            <a:pPr indent="-304800" lvl="0" marL="457200" rtl="0" algn="l">
              <a:spcBef>
                <a:spcPts val="0"/>
              </a:spcBef>
              <a:spcAft>
                <a:spcPts val="0"/>
              </a:spcAft>
              <a:buSzPts val="1200"/>
              <a:buChar char="●"/>
            </a:pPr>
            <a:r>
              <a:rPr lang="en" sz="1200">
                <a:latin typeface="Roboto"/>
                <a:ea typeface="Roboto"/>
                <a:cs typeface="Roboto"/>
                <a:sym typeface="Roboto"/>
              </a:rPr>
              <a:t>Negative sentiment is more noticeable in Media, Journalism &amp; Public Policy, Publishing &amp; Intellectual Property, and Music &amp; Entertainment, likely because these topics are more closely tied to regulation, copyright, originality, and concerns about creative displacement</a:t>
            </a:r>
            <a:endParaRPr sz="1200">
              <a:latin typeface="Roboto"/>
              <a:ea typeface="Roboto"/>
              <a:cs typeface="Roboto"/>
              <a:sym typeface="Roboto"/>
            </a:endParaRPr>
          </a:p>
          <a:p>
            <a:pPr indent="-304800" lvl="0" marL="457200" rtl="0" algn="l">
              <a:spcBef>
                <a:spcPts val="0"/>
              </a:spcBef>
              <a:spcAft>
                <a:spcPts val="0"/>
              </a:spcAft>
              <a:buSzPts val="1200"/>
              <a:buChar char="●"/>
            </a:pPr>
            <a:r>
              <a:rPr lang="en" sz="1200">
                <a:latin typeface="Roboto"/>
                <a:ea typeface="Roboto"/>
                <a:cs typeface="Roboto"/>
                <a:sym typeface="Roboto"/>
              </a:rPr>
              <a:t>Positive sentiment is stronger in Business Operations &amp; Enterprise Automation, as well as in some broader commentary and outlier groups, because these topics are more often framed around automation, product launches, innovation, growth, and new opportunities rather than criticism</a:t>
            </a:r>
            <a:endParaRPr sz="1200">
              <a:latin typeface="Roboto"/>
              <a:ea typeface="Roboto"/>
              <a:cs typeface="Roboto"/>
              <a:sym typeface="Roboto"/>
            </a:endParaRPr>
          </a:p>
        </p:txBody>
      </p:sp>
      <p:pic>
        <p:nvPicPr>
          <p:cNvPr id="239" name="Google Shape;239;p37" title="topic_7_Media_Journalism_Public_Policy_top10_technologies_sentiment_counts.png"/>
          <p:cNvPicPr preferRelativeResize="0"/>
          <p:nvPr/>
        </p:nvPicPr>
        <p:blipFill>
          <a:blip r:embed="rId3">
            <a:alphaModFix/>
          </a:blip>
          <a:stretch>
            <a:fillRect/>
          </a:stretch>
        </p:blipFill>
        <p:spPr>
          <a:xfrm>
            <a:off x="3990775" y="789125"/>
            <a:ext cx="4934077" cy="2079146"/>
          </a:xfrm>
          <a:prstGeom prst="rect">
            <a:avLst/>
          </a:prstGeom>
          <a:noFill/>
          <a:ln>
            <a:noFill/>
          </a:ln>
        </p:spPr>
      </p:pic>
      <p:pic>
        <p:nvPicPr>
          <p:cNvPr id="240" name="Google Shape;240;p37" title="topic_8_Business_Operations_Enterprise_Automation_top10_technologies_sentiment_counts.png"/>
          <p:cNvPicPr preferRelativeResize="0"/>
          <p:nvPr/>
        </p:nvPicPr>
        <p:blipFill>
          <a:blip r:embed="rId4">
            <a:alphaModFix/>
          </a:blip>
          <a:stretch>
            <a:fillRect/>
          </a:stretch>
        </p:blipFill>
        <p:spPr>
          <a:xfrm>
            <a:off x="3990775" y="2936325"/>
            <a:ext cx="4934077" cy="207914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8"/>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Results — Company</a:t>
            </a:r>
            <a:endParaRPr/>
          </a:p>
        </p:txBody>
      </p:sp>
      <p:sp>
        <p:nvSpPr>
          <p:cNvPr id="246" name="Google Shape;246;p38"/>
          <p:cNvSpPr txBox="1"/>
          <p:nvPr/>
        </p:nvSpPr>
        <p:spPr>
          <a:xfrm>
            <a:off x="98250" y="891175"/>
            <a:ext cx="4485600" cy="3900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Neutral sentiment dominates across nearly all industries, indicating that most AI news coverage is informational rather than strongly opinionated</a:t>
            </a:r>
            <a:endParaRPr sz="1200">
              <a:solidFill>
                <a:srgbClr val="1F1F1F"/>
              </a:solidFill>
              <a:latin typeface="Roboto"/>
              <a:ea typeface="Roboto"/>
              <a:cs typeface="Roboto"/>
              <a:sym typeface="Roboto"/>
            </a:endParaRPr>
          </a:p>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Large technology companies such as Google, Microsoft, Amazon, Apple, and Meta consistently appear among the most frequently mentioned entities across multiple topics, alongside industry-specific companies relevant to each topic</a:t>
            </a:r>
            <a:endParaRPr sz="1200">
              <a:solidFill>
                <a:srgbClr val="1F1F1F"/>
              </a:solidFill>
              <a:latin typeface="Roboto"/>
              <a:ea typeface="Roboto"/>
              <a:cs typeface="Roboto"/>
              <a:sym typeface="Roboto"/>
            </a:endParaRPr>
          </a:p>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Consistent with the technology-level results, negative sentiment is more noticeable in Media, Journalism &amp; Public Policy, Publishing &amp; Intellectual Property, and Music &amp; Entertainment, likely because these topics are more closely tied to regulation, copyright, originality, and concerns about creative displacement</a:t>
            </a:r>
            <a:endParaRPr sz="1200">
              <a:solidFill>
                <a:srgbClr val="1F1F1F"/>
              </a:solidFill>
              <a:latin typeface="Roboto"/>
              <a:ea typeface="Roboto"/>
              <a:cs typeface="Roboto"/>
              <a:sym typeface="Roboto"/>
            </a:endParaRPr>
          </a:p>
          <a:p>
            <a:pPr indent="-304800" lvl="0" marL="457200" rtl="0" algn="l">
              <a:spcBef>
                <a:spcPts val="0"/>
              </a:spcBef>
              <a:spcAft>
                <a:spcPts val="0"/>
              </a:spcAft>
              <a:buClr>
                <a:srgbClr val="1F1F1F"/>
              </a:buClr>
              <a:buSzPts val="1200"/>
              <a:buFont typeface="Roboto"/>
              <a:buChar char="●"/>
            </a:pPr>
            <a:r>
              <a:rPr lang="en" sz="1200">
                <a:solidFill>
                  <a:srgbClr val="1F1F1F"/>
                </a:solidFill>
                <a:latin typeface="Roboto"/>
                <a:ea typeface="Roboto"/>
                <a:cs typeface="Roboto"/>
                <a:sym typeface="Roboto"/>
              </a:rPr>
              <a:t>Consistent with the technology-level results, </a:t>
            </a:r>
            <a:r>
              <a:rPr lang="en" sz="1200">
                <a:solidFill>
                  <a:srgbClr val="1F1F1F"/>
                </a:solidFill>
                <a:latin typeface="Roboto"/>
                <a:ea typeface="Roboto"/>
                <a:cs typeface="Roboto"/>
                <a:sym typeface="Roboto"/>
              </a:rPr>
              <a:t>positive sentiment is stronger in Business Operations &amp; Enterprise Automation, as well as in some broader commentary and outlier groups, because these topics are more often framed around automation, product launches, innovation, growth, and new opportunities rather than criticism</a:t>
            </a:r>
            <a:endParaRPr sz="1200">
              <a:latin typeface="Roboto"/>
              <a:ea typeface="Roboto"/>
              <a:cs typeface="Roboto"/>
              <a:sym typeface="Roboto"/>
            </a:endParaRPr>
          </a:p>
        </p:txBody>
      </p:sp>
      <p:pic>
        <p:nvPicPr>
          <p:cNvPr id="247" name="Google Shape;247;p38" title="topic_14_Music_Entertainment_top10_companies_sentiment_counts.png"/>
          <p:cNvPicPr preferRelativeResize="0"/>
          <p:nvPr/>
        </p:nvPicPr>
        <p:blipFill>
          <a:blip r:embed="rId3">
            <a:alphaModFix/>
          </a:blip>
          <a:stretch>
            <a:fillRect/>
          </a:stretch>
        </p:blipFill>
        <p:spPr>
          <a:xfrm>
            <a:off x="4598950" y="983771"/>
            <a:ext cx="4485601" cy="1892378"/>
          </a:xfrm>
          <a:prstGeom prst="rect">
            <a:avLst/>
          </a:prstGeom>
          <a:noFill/>
          <a:ln>
            <a:noFill/>
          </a:ln>
        </p:spPr>
      </p:pic>
      <p:pic>
        <p:nvPicPr>
          <p:cNvPr id="248" name="Google Shape;248;p38" title="topic_2_Financial_Services_Business_top10_companies_sentiment_counts.png"/>
          <p:cNvPicPr preferRelativeResize="0"/>
          <p:nvPr/>
        </p:nvPicPr>
        <p:blipFill>
          <a:blip r:embed="rId4">
            <a:alphaModFix/>
          </a:blip>
          <a:stretch>
            <a:fillRect/>
          </a:stretch>
        </p:blipFill>
        <p:spPr>
          <a:xfrm>
            <a:off x="4598950" y="2998325"/>
            <a:ext cx="4490824" cy="18923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9"/>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Results – Key Takeaways</a:t>
            </a:r>
            <a:endParaRPr/>
          </a:p>
        </p:txBody>
      </p:sp>
      <p:sp>
        <p:nvSpPr>
          <p:cNvPr id="254" name="Google Shape;254;p39"/>
          <p:cNvSpPr txBox="1"/>
          <p:nvPr/>
        </p:nvSpPr>
        <p:spPr>
          <a:xfrm>
            <a:off x="395400" y="1010000"/>
            <a:ext cx="8232300" cy="40395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SzPts val="1200"/>
              <a:buFont typeface="Roboto"/>
              <a:buChar char="●"/>
            </a:pPr>
            <a:r>
              <a:rPr lang="en" sz="1200">
                <a:latin typeface="Roboto"/>
                <a:ea typeface="Roboto"/>
                <a:cs typeface="Roboto"/>
                <a:sym typeface="Roboto"/>
              </a:rPr>
              <a:t>Enterprise technology, cybersecurity, and business operations are among the industries most likely to be impacted by AI over the next several years </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These sectors support large enterprises, so AI adoption in these areas can have a wide ripple effect across many other industries</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A small group of large technology firms dominates the AI ecosystem, with companies like Google, Microsoft, Amazon, Apple, Meta, and Nvidia appearing repeatedly across articles in different industries</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These companies are leading the development, deployment, and infrastructure of AI technologies, which allows them to influence how AI is adopted across many sectors</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AI adoption appears most successful when it is used to support or enhance existing work, while adoption is more difficult when it creates regulatory, ethical, or workforce disruption</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Media, publishing, and entertainment show more negative or mixed effects because AI raises concerns about copyright, originality, regulation, and creative job displacement</a:t>
            </a:r>
            <a:endParaRPr sz="1200">
              <a:latin typeface="Roboto"/>
              <a:ea typeface="Roboto"/>
              <a:cs typeface="Roboto"/>
              <a:sym typeface="Roboto"/>
            </a:endParaRPr>
          </a:p>
          <a:p>
            <a:pPr indent="-304800" lvl="1" marL="914400" rtl="0" algn="l">
              <a:lnSpc>
                <a:spcPct val="115000"/>
              </a:lnSpc>
              <a:spcBef>
                <a:spcPts val="0"/>
              </a:spcBef>
              <a:spcAft>
                <a:spcPts val="0"/>
              </a:spcAft>
              <a:buSzPts val="1200"/>
              <a:buFont typeface="Roboto"/>
              <a:buChar char="○"/>
            </a:pPr>
            <a:r>
              <a:rPr lang="en" sz="1200">
                <a:latin typeface="Roboto"/>
                <a:ea typeface="Roboto"/>
                <a:cs typeface="Roboto"/>
                <a:sym typeface="Roboto"/>
              </a:rPr>
              <a:t>Enterprise software, financial services, and business operations show the clearest positive impact, as AI is often framed around efficiency, innovation, and productivity gains</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The main technologies driving these changes are Artificial Intelligence, Generative AI, Machine Learning, Chatbots, and Large Language Models as AI adoption is currently centered on software, data, and information systems rather than robotics or other physical automation technologies</a:t>
            </a:r>
            <a:endParaRPr sz="1200">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0"/>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Future Considerations</a:t>
            </a:r>
            <a:endParaRPr/>
          </a:p>
        </p:txBody>
      </p:sp>
      <p:sp>
        <p:nvSpPr>
          <p:cNvPr id="260" name="Google Shape;260;p40"/>
          <p:cNvSpPr txBox="1"/>
          <p:nvPr/>
        </p:nvSpPr>
        <p:spPr>
          <a:xfrm>
            <a:off x="625950" y="1112075"/>
            <a:ext cx="7892100" cy="34476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rgbClr val="1F1F1F"/>
              </a:buClr>
              <a:buSzPts val="1300"/>
              <a:buChar char="●"/>
            </a:pPr>
            <a:r>
              <a:rPr b="1" lang="en" sz="1300">
                <a:solidFill>
                  <a:srgbClr val="1F1F1F"/>
                </a:solidFill>
                <a:latin typeface="Roboto"/>
                <a:ea typeface="Roboto"/>
                <a:cs typeface="Roboto"/>
                <a:sym typeface="Roboto"/>
              </a:rPr>
              <a:t>Topic detection improvements </a:t>
            </a:r>
            <a:endParaRPr b="1" sz="1300">
              <a:solidFill>
                <a:srgbClr val="1F1F1F"/>
              </a:solidFill>
              <a:latin typeface="Roboto"/>
              <a:ea typeface="Roboto"/>
              <a:cs typeface="Roboto"/>
              <a:sym typeface="Roboto"/>
            </a:endParaRPr>
          </a:p>
          <a:p>
            <a:pPr indent="-311150" lvl="1" marL="914400" rtl="0" algn="l">
              <a:spcBef>
                <a:spcPts val="0"/>
              </a:spcBef>
              <a:spcAft>
                <a:spcPts val="0"/>
              </a:spcAft>
              <a:buClr>
                <a:srgbClr val="1F1F1F"/>
              </a:buClr>
              <a:buSzPts val="1300"/>
              <a:buChar char="○"/>
            </a:pPr>
            <a:r>
              <a:rPr lang="en" sz="1300">
                <a:solidFill>
                  <a:srgbClr val="1F1F1F"/>
                </a:solidFill>
                <a:latin typeface="Roboto"/>
                <a:ea typeface="Roboto"/>
                <a:cs typeface="Roboto"/>
                <a:sym typeface="Roboto"/>
              </a:rPr>
              <a:t>BERTopic worked well because it captures semantic meaning, but results could be improved by tuning parameters (which I did do) even more or exploring additional methods to produce cleaner industry-aligned clusters</a:t>
            </a:r>
            <a:endParaRPr sz="1300">
              <a:solidFill>
                <a:srgbClr val="1F1F1F"/>
              </a:solidFill>
              <a:latin typeface="Roboto"/>
              <a:ea typeface="Roboto"/>
              <a:cs typeface="Roboto"/>
              <a:sym typeface="Roboto"/>
            </a:endParaRPr>
          </a:p>
          <a:p>
            <a:pPr indent="-311150" lvl="0" marL="457200" rtl="0" algn="l">
              <a:spcBef>
                <a:spcPts val="0"/>
              </a:spcBef>
              <a:spcAft>
                <a:spcPts val="0"/>
              </a:spcAft>
              <a:buClr>
                <a:srgbClr val="1F1F1F"/>
              </a:buClr>
              <a:buSzPts val="1300"/>
              <a:buChar char="●"/>
            </a:pPr>
            <a:r>
              <a:rPr b="1" lang="en" sz="1300">
                <a:solidFill>
                  <a:srgbClr val="1F1F1F"/>
                </a:solidFill>
                <a:latin typeface="Roboto"/>
                <a:ea typeface="Roboto"/>
                <a:cs typeface="Roboto"/>
                <a:sym typeface="Roboto"/>
              </a:rPr>
              <a:t>NER improvements</a:t>
            </a:r>
            <a:endParaRPr b="1" sz="1300">
              <a:solidFill>
                <a:srgbClr val="1F1F1F"/>
              </a:solidFill>
              <a:latin typeface="Roboto"/>
              <a:ea typeface="Roboto"/>
              <a:cs typeface="Roboto"/>
              <a:sym typeface="Roboto"/>
            </a:endParaRPr>
          </a:p>
          <a:p>
            <a:pPr indent="-311150" lvl="1" marL="914400" rtl="0" algn="l">
              <a:spcBef>
                <a:spcPts val="0"/>
              </a:spcBef>
              <a:spcAft>
                <a:spcPts val="0"/>
              </a:spcAft>
              <a:buClr>
                <a:srgbClr val="1F1F1F"/>
              </a:buClr>
              <a:buSzPts val="1300"/>
              <a:buChar char="○"/>
            </a:pPr>
            <a:r>
              <a:rPr lang="en" sz="1300">
                <a:solidFill>
                  <a:srgbClr val="1F1F1F"/>
                </a:solidFill>
                <a:latin typeface="Roboto"/>
                <a:ea typeface="Roboto"/>
                <a:cs typeface="Roboto"/>
                <a:sym typeface="Roboto"/>
              </a:rPr>
              <a:t>Organization extraction could be improved by using a stronger NER model such as en_core_web_trf instead of en_core_web_lg, which would better identify true organizations rather than concepts, people, or countries</a:t>
            </a:r>
            <a:endParaRPr sz="1300">
              <a:solidFill>
                <a:srgbClr val="1F1F1F"/>
              </a:solidFill>
              <a:latin typeface="Roboto"/>
              <a:ea typeface="Roboto"/>
              <a:cs typeface="Roboto"/>
              <a:sym typeface="Roboto"/>
            </a:endParaRPr>
          </a:p>
          <a:p>
            <a:pPr indent="-311150" lvl="1" marL="914400" rtl="0" algn="l">
              <a:spcBef>
                <a:spcPts val="0"/>
              </a:spcBef>
              <a:spcAft>
                <a:spcPts val="0"/>
              </a:spcAft>
              <a:buClr>
                <a:srgbClr val="1F1F1F"/>
              </a:buClr>
              <a:buSzPts val="1300"/>
              <a:buChar char="○"/>
            </a:pPr>
            <a:r>
              <a:rPr lang="en" sz="1300">
                <a:solidFill>
                  <a:srgbClr val="1F1F1F"/>
                </a:solidFill>
                <a:latin typeface="Roboto"/>
                <a:ea typeface="Roboto"/>
                <a:cs typeface="Roboto"/>
                <a:sym typeface="Roboto"/>
              </a:rPr>
              <a:t>Technology detection could be expanded using cosine similarity with embeddings, allowing related technologies to be discovered automatically instead of relying only on a predefined AI-assisted generated list</a:t>
            </a:r>
            <a:endParaRPr sz="1300">
              <a:solidFill>
                <a:srgbClr val="1F1F1F"/>
              </a:solidFill>
              <a:latin typeface="Roboto"/>
              <a:ea typeface="Roboto"/>
              <a:cs typeface="Roboto"/>
              <a:sym typeface="Roboto"/>
            </a:endParaRPr>
          </a:p>
          <a:p>
            <a:pPr indent="-311150" lvl="0" marL="457200" rtl="0" algn="l">
              <a:spcBef>
                <a:spcPts val="0"/>
              </a:spcBef>
              <a:spcAft>
                <a:spcPts val="0"/>
              </a:spcAft>
              <a:buClr>
                <a:srgbClr val="1F1F1F"/>
              </a:buClr>
              <a:buSzPts val="1300"/>
              <a:buFont typeface="Roboto"/>
              <a:buChar char="●"/>
            </a:pPr>
            <a:r>
              <a:rPr b="1" lang="en" sz="1300">
                <a:solidFill>
                  <a:srgbClr val="1F1F1F"/>
                </a:solidFill>
                <a:latin typeface="Roboto"/>
                <a:ea typeface="Roboto"/>
                <a:cs typeface="Roboto"/>
                <a:sym typeface="Roboto"/>
              </a:rPr>
              <a:t>Sentiment model improvements</a:t>
            </a:r>
            <a:endParaRPr b="1" sz="1300">
              <a:solidFill>
                <a:srgbClr val="1F1F1F"/>
              </a:solidFill>
              <a:latin typeface="Roboto"/>
              <a:ea typeface="Roboto"/>
              <a:cs typeface="Roboto"/>
              <a:sym typeface="Roboto"/>
            </a:endParaRPr>
          </a:p>
          <a:p>
            <a:pPr indent="-311150" lvl="1" marL="914400" rtl="0" algn="l">
              <a:spcBef>
                <a:spcPts val="0"/>
              </a:spcBef>
              <a:spcAft>
                <a:spcPts val="0"/>
              </a:spcAft>
              <a:buClr>
                <a:srgbClr val="1F1F1F"/>
              </a:buClr>
              <a:buSzPts val="1300"/>
              <a:buChar char="○"/>
            </a:pPr>
            <a:r>
              <a:rPr lang="en" sz="1300">
                <a:solidFill>
                  <a:srgbClr val="1F1F1F"/>
                </a:solidFill>
                <a:latin typeface="Roboto"/>
                <a:ea typeface="Roboto"/>
                <a:cs typeface="Roboto"/>
                <a:sym typeface="Roboto"/>
              </a:rPr>
              <a:t>Sentiment analysis could benefit from training on a dataset more focused on AI or technology news, rather than general news articles</a:t>
            </a:r>
            <a:endParaRPr sz="1300">
              <a:solidFill>
                <a:srgbClr val="1F1F1F"/>
              </a:solidFill>
              <a:latin typeface="Roboto"/>
              <a:ea typeface="Roboto"/>
              <a:cs typeface="Roboto"/>
              <a:sym typeface="Roboto"/>
            </a:endParaRPr>
          </a:p>
          <a:p>
            <a:pPr indent="-311150" lvl="1" marL="914400" rtl="0" algn="l">
              <a:spcBef>
                <a:spcPts val="0"/>
              </a:spcBef>
              <a:spcAft>
                <a:spcPts val="0"/>
              </a:spcAft>
              <a:buClr>
                <a:srgbClr val="1F1F1F"/>
              </a:buClr>
              <a:buSzPts val="1300"/>
              <a:buChar char="○"/>
            </a:pPr>
            <a:r>
              <a:rPr lang="en" sz="1300">
                <a:solidFill>
                  <a:srgbClr val="1F1F1F"/>
                </a:solidFill>
                <a:latin typeface="Roboto"/>
                <a:ea typeface="Roboto"/>
                <a:cs typeface="Roboto"/>
                <a:sym typeface="Roboto"/>
              </a:rPr>
              <a:t>The dataset also had a large neutral class, which may have affected training, although the model still showed strong and relatively balanced performance across sentiment classes despite the imbalance → find a more balanced dataset</a:t>
            </a:r>
            <a:endParaRPr sz="1300">
              <a:solidFill>
                <a:srgbClr val="1F1F1F"/>
              </a:solidFill>
              <a:latin typeface="Roboto"/>
              <a:ea typeface="Roboto"/>
              <a:cs typeface="Roboto"/>
              <a:sym typeface="Roboto"/>
            </a:endParaRPr>
          </a:p>
          <a:p>
            <a:pPr indent="0" lvl="0" marL="0" rtl="0" algn="l">
              <a:spcBef>
                <a:spcPts val="0"/>
              </a:spcBef>
              <a:spcAft>
                <a:spcPts val="0"/>
              </a:spcAft>
              <a:buNone/>
            </a:pPr>
            <a:r>
              <a:t/>
            </a:r>
            <a:endParaRPr sz="1300">
              <a:solidFill>
                <a:srgbClr val="1F1F1F"/>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1"/>
          <p:cNvSpPr txBox="1"/>
          <p:nvPr>
            <p:ph type="title"/>
          </p:nvPr>
        </p:nvSpPr>
        <p:spPr>
          <a:xfrm>
            <a:off x="3219000" y="2065350"/>
            <a:ext cx="27060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